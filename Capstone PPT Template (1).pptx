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4" r:id="rId5"/>
    <p:sldId id="265" r:id="rId6"/>
    <p:sldId id="266" r:id="rId7"/>
    <p:sldId id="267" r:id="rId8"/>
    <p:sldId id="268" r:id="rId9"/>
    <p:sldId id="269" r:id="rId10"/>
    <p:sldId id="270" r:id="rId11"/>
    <p:sldId id="271" r:id="rId12"/>
    <p:sldId id="274" r:id="rId13"/>
    <p:sldId id="275" r:id="rId14"/>
    <p:sldId id="273" r:id="rId15"/>
    <p:sldId id="276" r:id="rId16"/>
    <p:sldId id="277" r:id="rId17"/>
    <p:sldId id="278" r:id="rId18"/>
    <p:sldId id="279" r:id="rId19"/>
    <p:sldId id="280" r:id="rId20"/>
    <p:sldId id="262" r:id="rId21"/>
    <p:sldId id="263"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66750" y="588644"/>
            <a:ext cx="821690"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61A3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504717" y="6123420"/>
            <a:ext cx="1998567" cy="535709"/>
          </a:xfrm>
          <a:prstGeom prst="rect">
            <a:avLst/>
          </a:prstGeom>
        </p:spPr>
      </p:pic>
      <p:sp>
        <p:nvSpPr>
          <p:cNvPr id="2" name="Holder 2"/>
          <p:cNvSpPr>
            <a:spLocks noGrp="1"/>
          </p:cNvSpPr>
          <p:nvPr>
            <p:ph type="title"/>
          </p:nvPr>
        </p:nvSpPr>
        <p:spPr>
          <a:xfrm>
            <a:off x="666750" y="588644"/>
            <a:ext cx="1380489" cy="541019"/>
          </a:xfrm>
          <a:prstGeom prst="rect">
            <a:avLst/>
          </a:prstGeom>
        </p:spPr>
        <p:txBody>
          <a:bodyPr wrap="square" lIns="0" tIns="0" rIns="0" bIns="0">
            <a:spAutoFit/>
          </a:bodyPr>
          <a:lstStyle>
            <a:lvl1pPr>
              <a:defRPr sz="3350" b="1" i="0">
                <a:solidFill>
                  <a:srgbClr val="161A3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66750" y="6215246"/>
            <a:ext cx="7212965" cy="362584"/>
          </a:xfrm>
          <a:prstGeom prst="rect">
            <a:avLst/>
          </a:prstGeom>
        </p:spPr>
        <p:txBody>
          <a:bodyPr wrap="square" lIns="0" tIns="0" rIns="0" bIns="0">
            <a:spAutoFit/>
          </a:bodyPr>
          <a:lstStyle>
            <a:lvl1pPr>
              <a:defRPr sz="1100" b="0" i="0">
                <a:solidFill>
                  <a:srgbClr val="AEABAB"/>
                </a:solidFill>
                <a:latin typeface="Calibri"/>
                <a:cs typeface="Calibri"/>
              </a:defRPr>
            </a:lvl1p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7997"/>
            </a:xfrm>
            <a:prstGeom prst="rect">
              <a:avLst/>
            </a:prstGeom>
          </p:spPr>
        </p:pic>
        <p:pic>
          <p:nvPicPr>
            <p:cNvPr id="5" name="object 5"/>
            <p:cNvPicPr/>
            <p:nvPr/>
          </p:nvPicPr>
          <p:blipFill>
            <a:blip r:embed="rId3" cstate="print"/>
            <a:stretch>
              <a:fillRect/>
            </a:stretch>
          </p:blipFill>
          <p:spPr>
            <a:xfrm>
              <a:off x="4019550" y="914400"/>
              <a:ext cx="5153025" cy="1419225"/>
            </a:xfrm>
            <a:prstGeom prst="rect">
              <a:avLst/>
            </a:prstGeom>
          </p:spPr>
        </p:pic>
      </p:grpSp>
      <p:sp>
        <p:nvSpPr>
          <p:cNvPr id="6" name="object 6"/>
          <p:cNvSpPr txBox="1">
            <a:spLocks noGrp="1"/>
          </p:cNvSpPr>
          <p:nvPr>
            <p:ph type="title"/>
          </p:nvPr>
        </p:nvSpPr>
        <p:spPr>
          <a:xfrm>
            <a:off x="1066800" y="2947495"/>
            <a:ext cx="10363200" cy="1370888"/>
          </a:xfrm>
          <a:prstGeom prst="rect">
            <a:avLst/>
          </a:prstGeom>
        </p:spPr>
        <p:txBody>
          <a:bodyPr vert="horz" wrap="square" lIns="0" tIns="16510" rIns="0" bIns="0" rtlCol="0">
            <a:spAutoFit/>
          </a:bodyPr>
          <a:lstStyle/>
          <a:p>
            <a:pPr marL="12700" algn="l">
              <a:lnSpc>
                <a:spcPct val="100000"/>
              </a:lnSpc>
              <a:spcBef>
                <a:spcPts val="130"/>
              </a:spcBef>
            </a:pPr>
            <a:r>
              <a:rPr lang="en-IN" sz="4400" dirty="0">
                <a:solidFill>
                  <a:srgbClr val="FFFFFF"/>
                </a:solidFill>
              </a:rPr>
              <a:t>Ecommerce Customer Segmentation and</a:t>
            </a:r>
            <a:br>
              <a:rPr lang="en-IN" sz="4400" dirty="0">
                <a:solidFill>
                  <a:srgbClr val="FFFFFF"/>
                </a:solidFill>
              </a:rPr>
            </a:br>
            <a:r>
              <a:rPr lang="en-IN" sz="4400" dirty="0">
                <a:solidFill>
                  <a:srgbClr val="FFFFFF"/>
                </a:solidFill>
              </a:rPr>
              <a:t>                            Prediction</a:t>
            </a:r>
            <a:endParaRPr sz="4400" dirty="0"/>
          </a:p>
        </p:txBody>
      </p:sp>
      <p:sp>
        <p:nvSpPr>
          <p:cNvPr id="7" name="object 6">
            <a:extLst>
              <a:ext uri="{FF2B5EF4-FFF2-40B4-BE49-F238E27FC236}">
                <a16:creationId xmlns:a16="http://schemas.microsoft.com/office/drawing/2014/main" id="{82A43724-F301-2DD0-A96C-E51B54EC734D}"/>
              </a:ext>
            </a:extLst>
          </p:cNvPr>
          <p:cNvSpPr txBox="1">
            <a:spLocks/>
          </p:cNvSpPr>
          <p:nvPr/>
        </p:nvSpPr>
        <p:spPr>
          <a:xfrm>
            <a:off x="838200" y="5241300"/>
            <a:ext cx="10363200" cy="693780"/>
          </a:xfrm>
          <a:prstGeom prst="rect">
            <a:avLst/>
          </a:prstGeom>
        </p:spPr>
        <p:txBody>
          <a:bodyPr vert="horz" wrap="square" lIns="0" tIns="16510" rIns="0" bIns="0" rtlCol="0">
            <a:spAutoFit/>
          </a:bodyPr>
          <a:lstStyle>
            <a:lvl1pPr>
              <a:defRPr sz="3350" b="1" i="0">
                <a:solidFill>
                  <a:srgbClr val="161A3D"/>
                </a:solidFill>
                <a:latin typeface="Calibri"/>
                <a:ea typeface="+mj-ea"/>
                <a:cs typeface="Calibri"/>
              </a:defRPr>
            </a:lvl1pPr>
          </a:lstStyle>
          <a:p>
            <a:pPr marL="12700" algn="ctr">
              <a:spcBef>
                <a:spcPts val="130"/>
              </a:spcBef>
            </a:pPr>
            <a:r>
              <a:rPr lang="en-US" sz="4400" dirty="0">
                <a:solidFill>
                  <a:srgbClr val="FFFFFF"/>
                </a:solidFill>
              </a:rPr>
              <a:t>By Adarsh Kumar</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Agenda</a:t>
            </a:r>
          </a:p>
        </p:txBody>
      </p:sp>
      <p:sp>
        <p:nvSpPr>
          <p:cNvPr id="3" name="object 3"/>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6" name="TextBox 5">
            <a:extLst>
              <a:ext uri="{FF2B5EF4-FFF2-40B4-BE49-F238E27FC236}">
                <a16:creationId xmlns:a16="http://schemas.microsoft.com/office/drawing/2014/main" id="{ADC1749E-7109-DCDF-5598-610C59E1EE20}"/>
              </a:ext>
            </a:extLst>
          </p:cNvPr>
          <p:cNvSpPr txBox="1"/>
          <p:nvPr/>
        </p:nvSpPr>
        <p:spPr>
          <a:xfrm>
            <a:off x="938981" y="1564675"/>
            <a:ext cx="3505200" cy="372864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t>Project Objective</a:t>
            </a:r>
          </a:p>
          <a:p>
            <a:pPr marL="285750" indent="-285750">
              <a:lnSpc>
                <a:spcPct val="150000"/>
              </a:lnSpc>
              <a:buFont typeface="Arial" panose="020B0604020202020204" pitchFamily="34" charset="0"/>
              <a:buChar char="•"/>
            </a:pPr>
            <a:r>
              <a:rPr lang="en-IN" sz="2000" dirty="0"/>
              <a:t>Database Overview</a:t>
            </a:r>
          </a:p>
          <a:p>
            <a:pPr marL="285750" indent="-285750">
              <a:lnSpc>
                <a:spcPct val="150000"/>
              </a:lnSpc>
              <a:buFont typeface="Arial" panose="020B0604020202020204" pitchFamily="34" charset="0"/>
              <a:buChar char="•"/>
            </a:pPr>
            <a:r>
              <a:rPr lang="en-IN" sz="2000" dirty="0"/>
              <a:t>Data Preprocessing</a:t>
            </a:r>
          </a:p>
          <a:p>
            <a:pPr marL="285750" indent="-285750">
              <a:lnSpc>
                <a:spcPct val="150000"/>
              </a:lnSpc>
              <a:buFont typeface="Arial" panose="020B0604020202020204" pitchFamily="34" charset="0"/>
              <a:buChar char="•"/>
            </a:pPr>
            <a:r>
              <a:rPr lang="en-IN" sz="2000" dirty="0"/>
              <a:t>Exploratory Data Analysis</a:t>
            </a:r>
          </a:p>
          <a:p>
            <a:pPr marL="285750" indent="-285750">
              <a:lnSpc>
                <a:spcPct val="150000"/>
              </a:lnSpc>
              <a:buFont typeface="Arial" panose="020B0604020202020204" pitchFamily="34" charset="0"/>
              <a:buChar char="•"/>
            </a:pPr>
            <a:r>
              <a:rPr lang="en-IN" sz="2000" dirty="0"/>
              <a:t>Correlation Analysis</a:t>
            </a:r>
          </a:p>
          <a:p>
            <a:pPr marL="285750" indent="-285750">
              <a:lnSpc>
                <a:spcPct val="150000"/>
              </a:lnSpc>
              <a:buFont typeface="Arial" panose="020B0604020202020204" pitchFamily="34" charset="0"/>
              <a:buChar char="•"/>
            </a:pPr>
            <a:r>
              <a:rPr lang="en-IN" sz="2000" dirty="0"/>
              <a:t>Model Training</a:t>
            </a:r>
          </a:p>
          <a:p>
            <a:pPr marL="285750" indent="-285750">
              <a:lnSpc>
                <a:spcPct val="150000"/>
              </a:lnSpc>
              <a:buFont typeface="Arial" panose="020B0604020202020204" pitchFamily="34" charset="0"/>
              <a:buChar char="•"/>
            </a:pPr>
            <a:r>
              <a:rPr lang="en-IN" sz="2000" dirty="0"/>
              <a:t>Model Evaluation</a:t>
            </a:r>
          </a:p>
          <a:p>
            <a:pPr marL="285750" indent="-285750" algn="just">
              <a:lnSpc>
                <a:spcPct val="150000"/>
              </a:lnSpc>
              <a:buFont typeface="Arial" panose="020B0604020202020204" pitchFamily="34" charset="0"/>
              <a:buChar char="•"/>
            </a:pPr>
            <a:r>
              <a:rPr lang="en-IN" sz="2000"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6750" y="588644"/>
            <a:ext cx="3524250" cy="532197"/>
          </a:xfrm>
          <a:prstGeom prst="rect">
            <a:avLst/>
          </a:prstGeom>
        </p:spPr>
        <p:txBody>
          <a:bodyPr vert="horz" wrap="square" lIns="0" tIns="16510" rIns="0" bIns="0" rtlCol="0">
            <a:spAutoFit/>
          </a:bodyPr>
          <a:lstStyle/>
          <a:p>
            <a:pPr marL="12700">
              <a:lnSpc>
                <a:spcPct val="100000"/>
              </a:lnSpc>
              <a:spcBef>
                <a:spcPts val="130"/>
              </a:spcBef>
            </a:pPr>
            <a:r>
              <a:rPr lang="en-IN" spc="-10" dirty="0"/>
              <a:t>Project Overview</a:t>
            </a:r>
            <a:endParaRPr spc="-10" dirty="0"/>
          </a:p>
        </p:txBody>
      </p:sp>
      <p:sp>
        <p:nvSpPr>
          <p:cNvPr id="4" name="object 4"/>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p:cNvSpPr txBox="1"/>
          <p:nvPr/>
        </p:nvSpPr>
        <p:spPr>
          <a:xfrm>
            <a:off x="758190" y="1604717"/>
            <a:ext cx="8614410" cy="363560"/>
          </a:xfrm>
          <a:prstGeom prst="rect">
            <a:avLst/>
          </a:prstGeom>
        </p:spPr>
        <p:txBody>
          <a:bodyPr vert="horz" wrap="square" lIns="0" tIns="55244" rIns="0" bIns="0" rtlCol="0">
            <a:spAutoFit/>
          </a:bodyPr>
          <a:lstStyle/>
          <a:p>
            <a:pPr marL="240665" indent="-227965">
              <a:lnSpc>
                <a:spcPct val="100000"/>
              </a:lnSpc>
              <a:spcBef>
                <a:spcPts val="434"/>
              </a:spcBef>
              <a:buFont typeface="Arial MT"/>
              <a:buChar char="•"/>
              <a:tabLst>
                <a:tab pos="240665" algn="l"/>
              </a:tabLst>
            </a:pPr>
            <a:endParaRPr sz="2000" dirty="0">
              <a:latin typeface="Calibri"/>
              <a:cs typeface="Calibri"/>
            </a:endParaRPr>
          </a:p>
        </p:txBody>
      </p:sp>
      <p:sp>
        <p:nvSpPr>
          <p:cNvPr id="6" name="TextBox 5">
            <a:extLst>
              <a:ext uri="{FF2B5EF4-FFF2-40B4-BE49-F238E27FC236}">
                <a16:creationId xmlns:a16="http://schemas.microsoft.com/office/drawing/2014/main" id="{B2E7D1DD-811E-09BC-CFCA-47B1AFCC3FE0}"/>
              </a:ext>
            </a:extLst>
          </p:cNvPr>
          <p:cNvSpPr txBox="1"/>
          <p:nvPr/>
        </p:nvSpPr>
        <p:spPr>
          <a:xfrm>
            <a:off x="1066800" y="1422936"/>
            <a:ext cx="9906000" cy="3266985"/>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Objective:</a:t>
            </a:r>
            <a:r>
              <a:rPr kumimoji="0" lang="en-US" altLang="en-US" sz="2000" b="0" i="0" u="none" strike="noStrike" cap="none" normalizeH="0" baseline="0" dirty="0">
                <a:ln>
                  <a:noFill/>
                </a:ln>
                <a:solidFill>
                  <a:schemeClr val="tx1"/>
                </a:solidFill>
                <a:effectLst/>
                <a:latin typeface="Arial" panose="020B0604020202020204" pitchFamily="34" charset="0"/>
              </a:rPr>
              <a:t> Enhance marketing strategies &amp; customer retention for an e-commerce company.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Approach:</a:t>
            </a:r>
            <a:r>
              <a:rPr kumimoji="0" lang="en-US" altLang="en-US" sz="2000" b="0" i="0" u="none" strike="noStrike" cap="none" normalizeH="0" baseline="0" dirty="0">
                <a:ln>
                  <a:noFill/>
                </a:ln>
                <a:solidFill>
                  <a:schemeClr val="tx1"/>
                </a:solidFill>
                <a:effectLst/>
                <a:latin typeface="Arial" panose="020B0604020202020204" pitchFamily="34" charset="0"/>
              </a:rPr>
              <a:t> Use machine learning to analyze purchasing patterns.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Key Outcomes: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Customer segmentation model</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Predictive classifier for future purchasing behavior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Impact:</a:t>
            </a:r>
            <a:r>
              <a:rPr kumimoji="0" lang="en-US" altLang="en-US" sz="2000" b="0" i="0" u="none" strike="noStrike" cap="none" normalizeH="0" baseline="0" dirty="0">
                <a:ln>
                  <a:noFill/>
                </a:ln>
                <a:solidFill>
                  <a:schemeClr val="tx1"/>
                </a:solidFill>
                <a:effectLst/>
                <a:latin typeface="Arial" panose="020B0604020202020204" pitchFamily="34" charset="0"/>
              </a:rPr>
              <a:t> Improve marketing, customer retention &amp; inventory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4FF20-7D6B-596B-37A7-1D03A0AE094E}"/>
              </a:ext>
            </a:extLst>
          </p:cNvPr>
          <p:cNvSpPr>
            <a:spLocks noGrp="1"/>
          </p:cNvSpPr>
          <p:nvPr>
            <p:ph type="title"/>
          </p:nvPr>
        </p:nvSpPr>
        <p:spPr>
          <a:xfrm>
            <a:off x="666750" y="588644"/>
            <a:ext cx="2990850" cy="515526"/>
          </a:xfrm>
        </p:spPr>
        <p:txBody>
          <a:bodyPr/>
          <a:lstStyle/>
          <a:p>
            <a:r>
              <a:rPr lang="en-IN" dirty="0"/>
              <a:t>Project Benefits</a:t>
            </a:r>
          </a:p>
        </p:txBody>
      </p:sp>
      <p:sp>
        <p:nvSpPr>
          <p:cNvPr id="4" name="Rectangle 1">
            <a:extLst>
              <a:ext uri="{FF2B5EF4-FFF2-40B4-BE49-F238E27FC236}">
                <a16:creationId xmlns:a16="http://schemas.microsoft.com/office/drawing/2014/main" id="{1A2DFCD2-9794-4E4E-95F8-BD12022A5164}"/>
              </a:ext>
            </a:extLst>
          </p:cNvPr>
          <p:cNvSpPr>
            <a:spLocks noGrp="1" noChangeArrowheads="1"/>
          </p:cNvSpPr>
          <p:nvPr>
            <p:ph type="body" idx="1"/>
          </p:nvPr>
        </p:nvSpPr>
        <p:spPr bwMode="auto">
          <a:xfrm>
            <a:off x="1066800" y="1486243"/>
            <a:ext cx="7620000"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Enhanced Customer Segmentation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Identify &amp; categorize customers based on purchasing behavior.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Enable personalized &amp; targeted marketing campaigns.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Cost Efficiency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Focus marketing efforts on high-value customer segments.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Optimize resource allocation for maximum impact.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Improved Customer Satisfaction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Tailor offers &amp; communication to customer needs.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Enhance customer experience &amp; loyalty.</a:t>
            </a:r>
          </a:p>
        </p:txBody>
      </p:sp>
      <p:sp>
        <p:nvSpPr>
          <p:cNvPr id="7" name="object 4">
            <a:extLst>
              <a:ext uri="{FF2B5EF4-FFF2-40B4-BE49-F238E27FC236}">
                <a16:creationId xmlns:a16="http://schemas.microsoft.com/office/drawing/2014/main" id="{129C886D-411E-CD79-92F7-DB5CFACEAD34}"/>
              </a:ext>
            </a:extLst>
          </p:cNvPr>
          <p:cNvSpPr txBox="1">
            <a:spLocks noGrp="1"/>
          </p:cNvSpPr>
          <p:nvPr>
            <p:ph type="ftr" sz="quarter" idx="5"/>
          </p:nvPr>
        </p:nvSpPr>
        <p:spPr>
          <a:xfrm>
            <a:off x="666750" y="6215246"/>
            <a:ext cx="7212965" cy="362584"/>
          </a:xfrm>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extLst>
      <p:ext uri="{BB962C8B-B14F-4D97-AF65-F5344CB8AC3E}">
        <p14:creationId xmlns:p14="http://schemas.microsoft.com/office/powerpoint/2010/main" val="132004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6E76-A64D-D53C-DC4A-BCEDF3467A20}"/>
              </a:ext>
            </a:extLst>
          </p:cNvPr>
          <p:cNvSpPr>
            <a:spLocks noGrp="1"/>
          </p:cNvSpPr>
          <p:nvPr>
            <p:ph type="title"/>
          </p:nvPr>
        </p:nvSpPr>
        <p:spPr>
          <a:xfrm>
            <a:off x="666750" y="588645"/>
            <a:ext cx="4591050" cy="630556"/>
          </a:xfrm>
        </p:spPr>
        <p:txBody>
          <a:bodyPr/>
          <a:lstStyle/>
          <a:p>
            <a:r>
              <a:rPr lang="en-IN" dirty="0"/>
              <a:t>Data frame Observations</a:t>
            </a:r>
          </a:p>
        </p:txBody>
      </p:sp>
      <p:sp>
        <p:nvSpPr>
          <p:cNvPr id="3" name="Text Placeholder 2">
            <a:extLst>
              <a:ext uri="{FF2B5EF4-FFF2-40B4-BE49-F238E27FC236}">
                <a16:creationId xmlns:a16="http://schemas.microsoft.com/office/drawing/2014/main" id="{ED19706D-6F1E-5C05-7E4F-EA44C47C9AFA}"/>
              </a:ext>
            </a:extLst>
          </p:cNvPr>
          <p:cNvSpPr>
            <a:spLocks noGrp="1"/>
          </p:cNvSpPr>
          <p:nvPr>
            <p:ph type="body" idx="1"/>
          </p:nvPr>
        </p:nvSpPr>
        <p:spPr>
          <a:xfrm>
            <a:off x="990600" y="1580737"/>
            <a:ext cx="7239000" cy="4107278"/>
          </a:xfrm>
        </p:spPr>
        <p:txBody>
          <a:bodyPr/>
          <a:lstStyle/>
          <a:p>
            <a:pPr marL="285750" indent="-285750">
              <a:lnSpc>
                <a:spcPct val="150000"/>
              </a:lnSpc>
              <a:buFont typeface="Arial" panose="020B0604020202020204" pitchFamily="34" charset="0"/>
              <a:buChar char="•"/>
            </a:pPr>
            <a:r>
              <a:rPr lang="en-US" sz="2000" b="1" dirty="0"/>
              <a:t>InvoiceNo:</a:t>
            </a:r>
            <a:r>
              <a:rPr lang="en-US" sz="2000" dirty="0"/>
              <a:t> Unique identifier for each transaction</a:t>
            </a:r>
          </a:p>
          <a:p>
            <a:pPr marL="285750" indent="-285750">
              <a:lnSpc>
                <a:spcPct val="150000"/>
              </a:lnSpc>
              <a:buFont typeface="Arial" panose="020B0604020202020204" pitchFamily="34" charset="0"/>
              <a:buChar char="•"/>
            </a:pPr>
            <a:r>
              <a:rPr lang="en-US" sz="2000" b="1" dirty="0"/>
              <a:t>StockCode:</a:t>
            </a:r>
            <a:r>
              <a:rPr lang="en-US" sz="2000" dirty="0"/>
              <a:t> Product code</a:t>
            </a:r>
          </a:p>
          <a:p>
            <a:pPr marL="285750" indent="-285750">
              <a:lnSpc>
                <a:spcPct val="150000"/>
              </a:lnSpc>
              <a:buFont typeface="Arial" panose="020B0604020202020204" pitchFamily="34" charset="0"/>
              <a:buChar char="•"/>
            </a:pPr>
            <a:r>
              <a:rPr lang="en-US" sz="2000" b="1" dirty="0"/>
              <a:t>Description:</a:t>
            </a:r>
            <a:r>
              <a:rPr lang="en-US" sz="2000" dirty="0"/>
              <a:t> Product name</a:t>
            </a:r>
          </a:p>
          <a:p>
            <a:pPr marL="285750" indent="-285750">
              <a:lnSpc>
                <a:spcPct val="150000"/>
              </a:lnSpc>
              <a:buFont typeface="Arial" panose="020B0604020202020204" pitchFamily="34" charset="0"/>
              <a:buChar char="•"/>
            </a:pPr>
            <a:r>
              <a:rPr lang="en-US" sz="2000" b="1" dirty="0"/>
              <a:t>Quantity:</a:t>
            </a:r>
            <a:r>
              <a:rPr lang="en-US" sz="2000" dirty="0"/>
              <a:t> Number of items purchased</a:t>
            </a:r>
          </a:p>
          <a:p>
            <a:pPr marL="285750" indent="-285750">
              <a:lnSpc>
                <a:spcPct val="150000"/>
              </a:lnSpc>
              <a:buFont typeface="Arial" panose="020B0604020202020204" pitchFamily="34" charset="0"/>
              <a:buChar char="•"/>
            </a:pPr>
            <a:r>
              <a:rPr lang="en-US" sz="2000" b="1" dirty="0"/>
              <a:t>InvoiceDate:</a:t>
            </a:r>
            <a:r>
              <a:rPr lang="en-US" sz="2000" dirty="0"/>
              <a:t> Date and time of the transaction</a:t>
            </a:r>
          </a:p>
          <a:p>
            <a:pPr marL="285750" indent="-285750">
              <a:lnSpc>
                <a:spcPct val="150000"/>
              </a:lnSpc>
              <a:buFont typeface="Arial" panose="020B0604020202020204" pitchFamily="34" charset="0"/>
              <a:buChar char="•"/>
            </a:pPr>
            <a:r>
              <a:rPr lang="en-US" sz="2000" b="1" dirty="0"/>
              <a:t>UnitPrice:</a:t>
            </a:r>
            <a:r>
              <a:rPr lang="en-US" sz="2000" dirty="0"/>
              <a:t> Price per unit of the product</a:t>
            </a:r>
          </a:p>
          <a:p>
            <a:pPr marL="285750" indent="-285750">
              <a:lnSpc>
                <a:spcPct val="150000"/>
              </a:lnSpc>
              <a:buFont typeface="Arial" panose="020B0604020202020204" pitchFamily="34" charset="0"/>
              <a:buChar char="•"/>
            </a:pPr>
            <a:r>
              <a:rPr lang="en-US" sz="2000" b="1" dirty="0"/>
              <a:t>CustomerID:</a:t>
            </a:r>
            <a:r>
              <a:rPr lang="en-US" sz="2000" dirty="0"/>
              <a:t> Unique identifier for each customer</a:t>
            </a:r>
          </a:p>
          <a:p>
            <a:pPr marL="285750" indent="-285750">
              <a:lnSpc>
                <a:spcPct val="150000"/>
              </a:lnSpc>
              <a:buFont typeface="Arial" panose="020B0604020202020204" pitchFamily="34" charset="0"/>
              <a:buChar char="•"/>
            </a:pPr>
            <a:r>
              <a:rPr lang="en-US" sz="2000" b="1" dirty="0"/>
              <a:t>Country:</a:t>
            </a:r>
            <a:r>
              <a:rPr lang="en-US" sz="2000" dirty="0"/>
              <a:t> Country where the transaction occurred</a:t>
            </a:r>
          </a:p>
          <a:p>
            <a:pPr marL="285750" indent="-285750">
              <a:lnSpc>
                <a:spcPct val="150000"/>
              </a:lnSpc>
              <a:buFont typeface="Arial" panose="020B0604020202020204" pitchFamily="34" charset="0"/>
              <a:buChar char="•"/>
            </a:pPr>
            <a:endParaRPr lang="en-IN" sz="2000" dirty="0"/>
          </a:p>
        </p:txBody>
      </p:sp>
      <p:sp>
        <p:nvSpPr>
          <p:cNvPr id="4" name="object 4">
            <a:extLst>
              <a:ext uri="{FF2B5EF4-FFF2-40B4-BE49-F238E27FC236}">
                <a16:creationId xmlns:a16="http://schemas.microsoft.com/office/drawing/2014/main" id="{59C9C1FD-0936-5624-0938-12C1076CFC5F}"/>
              </a:ext>
            </a:extLst>
          </p:cNvPr>
          <p:cNvSpPr txBox="1">
            <a:spLocks noGrp="1"/>
          </p:cNvSpPr>
          <p:nvPr>
            <p:ph type="ftr" sz="quarter" idx="5"/>
          </p:nvPr>
        </p:nvSpPr>
        <p:spPr>
          <a:xfrm>
            <a:off x="666750" y="6215246"/>
            <a:ext cx="7212965" cy="362584"/>
          </a:xfrm>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extLst>
      <p:ext uri="{BB962C8B-B14F-4D97-AF65-F5344CB8AC3E}">
        <p14:creationId xmlns:p14="http://schemas.microsoft.com/office/powerpoint/2010/main" val="2474069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E738B-77C8-1C31-B8E4-6735C1EC0728}"/>
              </a:ext>
            </a:extLst>
          </p:cNvPr>
          <p:cNvSpPr>
            <a:spLocks noGrp="1"/>
          </p:cNvSpPr>
          <p:nvPr>
            <p:ph type="title"/>
          </p:nvPr>
        </p:nvSpPr>
        <p:spPr>
          <a:xfrm>
            <a:off x="666750" y="588645"/>
            <a:ext cx="4819650" cy="554356"/>
          </a:xfrm>
        </p:spPr>
        <p:txBody>
          <a:bodyPr/>
          <a:lstStyle/>
          <a:p>
            <a:r>
              <a:rPr lang="en-IN" dirty="0"/>
              <a:t>What is RFM Analysis?</a:t>
            </a:r>
          </a:p>
        </p:txBody>
      </p:sp>
      <p:sp>
        <p:nvSpPr>
          <p:cNvPr id="3" name="Text Placeholder 2">
            <a:extLst>
              <a:ext uri="{FF2B5EF4-FFF2-40B4-BE49-F238E27FC236}">
                <a16:creationId xmlns:a16="http://schemas.microsoft.com/office/drawing/2014/main" id="{A4C9799E-07C8-C3DF-B467-CE1B221DE268}"/>
              </a:ext>
            </a:extLst>
          </p:cNvPr>
          <p:cNvSpPr>
            <a:spLocks noGrp="1"/>
          </p:cNvSpPr>
          <p:nvPr>
            <p:ph type="body" idx="1"/>
          </p:nvPr>
        </p:nvSpPr>
        <p:spPr>
          <a:xfrm>
            <a:off x="609600" y="1577340"/>
            <a:ext cx="10972800" cy="4989186"/>
          </a:xfrm>
        </p:spPr>
        <p:txBody>
          <a:bodyPr/>
          <a:lstStyle/>
          <a:p>
            <a:pPr>
              <a:lnSpc>
                <a:spcPct val="150000"/>
              </a:lnSpc>
            </a:pPr>
            <a:r>
              <a:rPr lang="en-US" sz="2000" dirty="0"/>
              <a:t>Recency, frequency, monetary value is a marketing analysis tool used to identify a company's or an organization's best customers by measuring and analyzing spending habits.</a:t>
            </a:r>
          </a:p>
          <a:p>
            <a:pPr>
              <a:lnSpc>
                <a:spcPct val="150000"/>
              </a:lnSpc>
            </a:pPr>
            <a:r>
              <a:rPr lang="en-US" sz="2000" b="1" dirty="0"/>
              <a:t>What is Recency, Frequency, Monetary</a:t>
            </a:r>
          </a:p>
          <a:p>
            <a:pPr marL="342900" indent="-342900">
              <a:lnSpc>
                <a:spcPct val="150000"/>
              </a:lnSpc>
              <a:buFont typeface="+mj-lt"/>
              <a:buAutoNum type="arabicPeriod"/>
            </a:pPr>
            <a:r>
              <a:rPr lang="en-US" sz="2000" b="1" dirty="0"/>
              <a:t>Recency:</a:t>
            </a:r>
            <a:r>
              <a:rPr lang="en-US" sz="2000" dirty="0"/>
              <a:t> How recently a customer has made a purchase.</a:t>
            </a:r>
          </a:p>
          <a:p>
            <a:pPr marL="342900" indent="-342900">
              <a:lnSpc>
                <a:spcPct val="150000"/>
              </a:lnSpc>
              <a:buFont typeface="+mj-lt"/>
              <a:buAutoNum type="arabicPeriod"/>
            </a:pPr>
            <a:r>
              <a:rPr lang="en-US" sz="2000" b="1" dirty="0"/>
              <a:t>Frequency:</a:t>
            </a:r>
            <a:r>
              <a:rPr lang="en-US" sz="2000" dirty="0"/>
              <a:t> How often a customer makes a purchase.</a:t>
            </a:r>
          </a:p>
          <a:p>
            <a:pPr marL="342900" indent="-342900">
              <a:lnSpc>
                <a:spcPct val="150000"/>
              </a:lnSpc>
              <a:buFont typeface="+mj-lt"/>
              <a:buAutoNum type="arabicPeriod"/>
            </a:pPr>
            <a:r>
              <a:rPr lang="en-US" sz="2000" b="1" dirty="0"/>
              <a:t>Monetary Value:</a:t>
            </a:r>
            <a:r>
              <a:rPr lang="en-US" sz="2000" dirty="0"/>
              <a:t> How much money a customer spends on purchases.</a:t>
            </a:r>
          </a:p>
          <a:p>
            <a:pPr>
              <a:lnSpc>
                <a:spcPct val="150000"/>
              </a:lnSpc>
            </a:pPr>
            <a:r>
              <a:rPr lang="en-US" sz="2000" dirty="0"/>
              <a:t>The concept of recency, frequency, monetary value (RFM) is thought to date from an article by </a:t>
            </a:r>
            <a:r>
              <a:rPr lang="en-US" sz="2000" b="1" dirty="0"/>
              <a:t>Jan Roelf Bult</a:t>
            </a:r>
            <a:r>
              <a:rPr lang="en-US" sz="2000" dirty="0"/>
              <a:t> and </a:t>
            </a:r>
            <a:r>
              <a:rPr lang="en-US" sz="2000" b="1" dirty="0"/>
              <a:t>Tom Wansbeek</a:t>
            </a:r>
            <a:r>
              <a:rPr lang="en-US" sz="2000" dirty="0"/>
              <a:t>, </a:t>
            </a:r>
            <a:r>
              <a:rPr lang="en-US" sz="2000" i="1" dirty="0"/>
              <a:t>“Optimal Selection for Direct Mail,”</a:t>
            </a:r>
            <a:r>
              <a:rPr lang="en-US" sz="2000" dirty="0"/>
              <a:t> published in a 1995 issue of </a:t>
            </a:r>
            <a:r>
              <a:rPr lang="en-US" sz="2000" i="1" dirty="0"/>
              <a:t>Marketing Science</a:t>
            </a:r>
            <a:r>
              <a:rPr lang="en-US" sz="2000" dirty="0"/>
              <a:t>. RFM analysis often supports the marketing adage that </a:t>
            </a:r>
            <a:r>
              <a:rPr lang="en-US" sz="2000" b="1" dirty="0"/>
              <a:t>“80% of business comes from 20% of the customers.”</a:t>
            </a:r>
            <a:endParaRPr lang="en-US" sz="2000" dirty="0"/>
          </a:p>
          <a:p>
            <a:pPr>
              <a:lnSpc>
                <a:spcPct val="150000"/>
              </a:lnSpc>
            </a:pPr>
            <a:endParaRPr lang="en-IN" sz="2000" dirty="0"/>
          </a:p>
        </p:txBody>
      </p:sp>
      <p:sp>
        <p:nvSpPr>
          <p:cNvPr id="4" name="object 4">
            <a:extLst>
              <a:ext uri="{FF2B5EF4-FFF2-40B4-BE49-F238E27FC236}">
                <a16:creationId xmlns:a16="http://schemas.microsoft.com/office/drawing/2014/main" id="{5711D2A5-8917-4F02-9D0A-22E7CD4A0E7F}"/>
              </a:ext>
            </a:extLst>
          </p:cNvPr>
          <p:cNvSpPr txBox="1">
            <a:spLocks noGrp="1"/>
          </p:cNvSpPr>
          <p:nvPr>
            <p:ph type="ftr" sz="quarter" idx="5"/>
          </p:nvPr>
        </p:nvSpPr>
        <p:spPr>
          <a:xfrm>
            <a:off x="666750" y="6215246"/>
            <a:ext cx="7212965" cy="362584"/>
          </a:xfrm>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extLst>
      <p:ext uri="{BB962C8B-B14F-4D97-AF65-F5344CB8AC3E}">
        <p14:creationId xmlns:p14="http://schemas.microsoft.com/office/powerpoint/2010/main" val="32849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2274B-6F5D-09CE-B89B-7F865EBC70C7}"/>
              </a:ext>
            </a:extLst>
          </p:cNvPr>
          <p:cNvSpPr>
            <a:spLocks noGrp="1"/>
          </p:cNvSpPr>
          <p:nvPr>
            <p:ph type="title"/>
          </p:nvPr>
        </p:nvSpPr>
        <p:spPr>
          <a:xfrm>
            <a:off x="666750" y="588644"/>
            <a:ext cx="1380489" cy="515526"/>
          </a:xfrm>
        </p:spPr>
        <p:txBody>
          <a:bodyPr/>
          <a:lstStyle/>
          <a:p>
            <a:r>
              <a:rPr lang="en-IN" dirty="0"/>
              <a:t>Insights</a:t>
            </a:r>
          </a:p>
        </p:txBody>
      </p:sp>
      <p:sp>
        <p:nvSpPr>
          <p:cNvPr id="3" name="Text Placeholder 2">
            <a:extLst>
              <a:ext uri="{FF2B5EF4-FFF2-40B4-BE49-F238E27FC236}">
                <a16:creationId xmlns:a16="http://schemas.microsoft.com/office/drawing/2014/main" id="{D9602E2C-74D9-68CB-A629-3A2BA6598713}"/>
              </a:ext>
            </a:extLst>
          </p:cNvPr>
          <p:cNvSpPr>
            <a:spLocks noGrp="1"/>
          </p:cNvSpPr>
          <p:nvPr>
            <p:ph type="body" idx="1"/>
          </p:nvPr>
        </p:nvSpPr>
        <p:spPr>
          <a:xfrm>
            <a:off x="838200" y="1600200"/>
            <a:ext cx="10972800" cy="3183949"/>
          </a:xfrm>
        </p:spPr>
        <p:txBody>
          <a:bodyPr/>
          <a:lstStyle/>
          <a:p>
            <a:pPr>
              <a:lnSpc>
                <a:spcPct val="150000"/>
              </a:lnSpc>
            </a:pPr>
            <a:r>
              <a:rPr lang="en-US" sz="2000" dirty="0"/>
              <a:t>• Customer 12347 stands out as highly valuable with frequent purchases and high monetary contributions.</a:t>
            </a:r>
          </a:p>
          <a:p>
            <a:pPr>
              <a:lnSpc>
                <a:spcPct val="150000"/>
              </a:lnSpc>
            </a:pPr>
            <a:r>
              <a:rPr lang="en-US" sz="2000" dirty="0"/>
              <a:t>• Customers like 12346 exhibit very low engagement and spending, contributing very little to overall       Customer  Lifetime Value (CLV).</a:t>
            </a:r>
          </a:p>
          <a:p>
            <a:pPr>
              <a:lnSpc>
                <a:spcPct val="150000"/>
              </a:lnSpc>
            </a:pPr>
            <a:r>
              <a:rPr lang="en-US" sz="2000" dirty="0"/>
              <a:t>• Recency plays a significant role in determining active customers, as seen with lower recency values correlating with higher frequency and monetary contributions.</a:t>
            </a:r>
          </a:p>
          <a:p>
            <a:pPr>
              <a:lnSpc>
                <a:spcPct val="150000"/>
              </a:lnSpc>
            </a:pPr>
            <a:endParaRPr lang="en-IN" sz="2000" dirty="0"/>
          </a:p>
        </p:txBody>
      </p:sp>
      <p:sp>
        <p:nvSpPr>
          <p:cNvPr id="4" name="object 4">
            <a:extLst>
              <a:ext uri="{FF2B5EF4-FFF2-40B4-BE49-F238E27FC236}">
                <a16:creationId xmlns:a16="http://schemas.microsoft.com/office/drawing/2014/main" id="{A59407A0-32CD-38A5-BE0D-1E4D60DD94D9}"/>
              </a:ext>
            </a:extLst>
          </p:cNvPr>
          <p:cNvSpPr txBox="1">
            <a:spLocks noGrp="1"/>
          </p:cNvSpPr>
          <p:nvPr>
            <p:ph type="ftr" sz="quarter" idx="5"/>
          </p:nvPr>
        </p:nvSpPr>
        <p:spPr>
          <a:xfrm>
            <a:off x="666750" y="6215246"/>
            <a:ext cx="7212965" cy="362584"/>
          </a:xfrm>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extLst>
      <p:ext uri="{BB962C8B-B14F-4D97-AF65-F5344CB8AC3E}">
        <p14:creationId xmlns:p14="http://schemas.microsoft.com/office/powerpoint/2010/main" val="319439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119D-2E20-500B-5945-822FAAC2D9B2}"/>
              </a:ext>
            </a:extLst>
          </p:cNvPr>
          <p:cNvSpPr>
            <a:spLocks noGrp="1"/>
          </p:cNvSpPr>
          <p:nvPr>
            <p:ph type="title"/>
          </p:nvPr>
        </p:nvSpPr>
        <p:spPr>
          <a:xfrm>
            <a:off x="666750" y="588645"/>
            <a:ext cx="3981450" cy="554356"/>
          </a:xfrm>
        </p:spPr>
        <p:txBody>
          <a:bodyPr/>
          <a:lstStyle/>
          <a:p>
            <a:r>
              <a:rPr lang="en-IN" dirty="0"/>
              <a:t>Data Preparation</a:t>
            </a:r>
          </a:p>
        </p:txBody>
      </p:sp>
      <p:sp>
        <p:nvSpPr>
          <p:cNvPr id="3" name="Text Placeholder 2">
            <a:extLst>
              <a:ext uri="{FF2B5EF4-FFF2-40B4-BE49-F238E27FC236}">
                <a16:creationId xmlns:a16="http://schemas.microsoft.com/office/drawing/2014/main" id="{EA8FBE31-CA89-4D28-5D5D-65C708602709}"/>
              </a:ext>
            </a:extLst>
          </p:cNvPr>
          <p:cNvSpPr>
            <a:spLocks noGrp="1"/>
          </p:cNvSpPr>
          <p:nvPr>
            <p:ph type="body" idx="1"/>
          </p:nvPr>
        </p:nvSpPr>
        <p:spPr>
          <a:xfrm>
            <a:off x="838200" y="1524000"/>
            <a:ext cx="10972800" cy="2260619"/>
          </a:xfrm>
        </p:spPr>
        <p:txBody>
          <a:bodyPr/>
          <a:lstStyle/>
          <a:p>
            <a:pPr algn="l">
              <a:lnSpc>
                <a:spcPct val="150000"/>
              </a:lnSpc>
            </a:pPr>
            <a:r>
              <a:rPr lang="en-US" sz="2000" dirty="0"/>
              <a:t>• </a:t>
            </a:r>
            <a:r>
              <a:rPr lang="en-US" sz="2000" b="1" dirty="0"/>
              <a:t>Handling outliers</a:t>
            </a:r>
            <a:r>
              <a:rPr lang="en-US" sz="2000" dirty="0"/>
              <a:t> – Any outliers from numerical columns should be removed.</a:t>
            </a:r>
          </a:p>
          <a:p>
            <a:pPr algn="l">
              <a:lnSpc>
                <a:spcPct val="150000"/>
              </a:lnSpc>
            </a:pPr>
            <a:r>
              <a:rPr lang="en-US" sz="2000" dirty="0"/>
              <a:t>• </a:t>
            </a:r>
            <a:r>
              <a:rPr lang="en-US" sz="2000" b="1" dirty="0"/>
              <a:t>Scaling the values</a:t>
            </a:r>
            <a:r>
              <a:rPr lang="en-US" sz="2000" dirty="0"/>
              <a:t> – Because the numeric column have different scale, we need to  scale it first, so all numeric value have difference</a:t>
            </a:r>
          </a:p>
          <a:p>
            <a:pPr algn="l">
              <a:lnSpc>
                <a:spcPct val="150000"/>
              </a:lnSpc>
            </a:pPr>
            <a:r>
              <a:rPr lang="en-US" sz="2000" dirty="0"/>
              <a:t>• </a:t>
            </a:r>
            <a:r>
              <a:rPr lang="en-US" sz="2000" b="1" dirty="0"/>
              <a:t>Ready for modelling</a:t>
            </a:r>
            <a:r>
              <a:rPr lang="en-US" sz="2000" dirty="0"/>
              <a:t> – The data frame is ready for modelling.</a:t>
            </a:r>
          </a:p>
          <a:p>
            <a:pPr algn="l">
              <a:lnSpc>
                <a:spcPct val="150000"/>
              </a:lnSpc>
            </a:pPr>
            <a:endParaRPr lang="en-IN" sz="2000" dirty="0"/>
          </a:p>
        </p:txBody>
      </p:sp>
      <p:sp>
        <p:nvSpPr>
          <p:cNvPr id="4" name="object 4">
            <a:extLst>
              <a:ext uri="{FF2B5EF4-FFF2-40B4-BE49-F238E27FC236}">
                <a16:creationId xmlns:a16="http://schemas.microsoft.com/office/drawing/2014/main" id="{7015A5EB-95A5-097E-DAB2-7777FF77FD69}"/>
              </a:ext>
            </a:extLst>
          </p:cNvPr>
          <p:cNvSpPr txBox="1">
            <a:spLocks noGrp="1"/>
          </p:cNvSpPr>
          <p:nvPr>
            <p:ph type="ftr" sz="quarter" idx="5"/>
          </p:nvPr>
        </p:nvSpPr>
        <p:spPr>
          <a:xfrm>
            <a:off x="666750" y="6215246"/>
            <a:ext cx="7212965" cy="362584"/>
          </a:xfrm>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extLst>
      <p:ext uri="{BB962C8B-B14F-4D97-AF65-F5344CB8AC3E}">
        <p14:creationId xmlns:p14="http://schemas.microsoft.com/office/powerpoint/2010/main" val="3421037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245A-E746-2A42-E6E9-EA709E4702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264BBE1-47C1-C79F-4FF0-7DB0EDE9407F}"/>
              </a:ext>
            </a:extLst>
          </p:cNvPr>
          <p:cNvSpPr txBox="1">
            <a:spLocks noGrp="1"/>
          </p:cNvSpPr>
          <p:nvPr>
            <p:ph type="ctrTitle"/>
          </p:nvPr>
        </p:nvSpPr>
        <p:spPr>
          <a:xfrm>
            <a:off x="666750" y="588644"/>
            <a:ext cx="4133850" cy="541019"/>
          </a:xfrm>
          <a:prstGeom prst="rect">
            <a:avLst/>
          </a:prstGeom>
        </p:spPr>
        <p:txBody>
          <a:bodyPr vert="horz" wrap="square" lIns="0" tIns="16510" rIns="0" bIns="0" rtlCol="0">
            <a:spAutoFit/>
          </a:bodyPr>
          <a:lstStyle/>
          <a:p>
            <a:pPr marL="12700">
              <a:lnSpc>
                <a:spcPct val="100000"/>
              </a:lnSpc>
              <a:spcBef>
                <a:spcPts val="130"/>
              </a:spcBef>
            </a:pPr>
            <a:r>
              <a:rPr lang="en-IN" spc="-10" dirty="0"/>
              <a:t>Handling Outliers</a:t>
            </a:r>
            <a:endParaRPr spc="-10" dirty="0"/>
          </a:p>
        </p:txBody>
      </p:sp>
      <p:sp>
        <p:nvSpPr>
          <p:cNvPr id="4" name="object 4">
            <a:extLst>
              <a:ext uri="{FF2B5EF4-FFF2-40B4-BE49-F238E27FC236}">
                <a16:creationId xmlns:a16="http://schemas.microsoft.com/office/drawing/2014/main" id="{634740FF-DF75-51D9-E158-7EA06A430533}"/>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2861D741-4173-6819-92BF-ABF6575A7525}"/>
              </a:ext>
            </a:extLst>
          </p:cNvPr>
          <p:cNvSpPr txBox="1"/>
          <p:nvPr/>
        </p:nvSpPr>
        <p:spPr>
          <a:xfrm>
            <a:off x="990600" y="1524000"/>
            <a:ext cx="2076450" cy="357505"/>
          </a:xfrm>
          <a:prstGeom prst="rect">
            <a:avLst/>
          </a:prstGeom>
        </p:spPr>
        <p:txBody>
          <a:bodyPr vert="horz" wrap="square" lIns="0" tIns="15875" rIns="0" bIns="0" rtlCol="0">
            <a:spAutoFit/>
          </a:bodyPr>
          <a:lstStyle/>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Creating Graph</a:t>
            </a:r>
            <a:endParaRPr sz="2150" dirty="0">
              <a:latin typeface="Calibri"/>
              <a:cs typeface="Calibri"/>
            </a:endParaRPr>
          </a:p>
        </p:txBody>
      </p:sp>
      <p:pic>
        <p:nvPicPr>
          <p:cNvPr id="6" name="Picture 5">
            <a:extLst>
              <a:ext uri="{FF2B5EF4-FFF2-40B4-BE49-F238E27FC236}">
                <a16:creationId xmlns:a16="http://schemas.microsoft.com/office/drawing/2014/main" id="{D8AAC651-255C-0769-C845-5120E0037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133600"/>
            <a:ext cx="4363059" cy="3943900"/>
          </a:xfrm>
          <a:prstGeom prst="rect">
            <a:avLst/>
          </a:prstGeom>
        </p:spPr>
      </p:pic>
      <p:pic>
        <p:nvPicPr>
          <p:cNvPr id="8" name="Picture 7">
            <a:extLst>
              <a:ext uri="{FF2B5EF4-FFF2-40B4-BE49-F238E27FC236}">
                <a16:creationId xmlns:a16="http://schemas.microsoft.com/office/drawing/2014/main" id="{F30DA3EE-483A-4E67-E986-2B76B5044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2427256"/>
            <a:ext cx="6096000" cy="3242240"/>
          </a:xfrm>
          <a:prstGeom prst="rect">
            <a:avLst/>
          </a:prstGeom>
        </p:spPr>
      </p:pic>
    </p:spTree>
    <p:extLst>
      <p:ext uri="{BB962C8B-B14F-4D97-AF65-F5344CB8AC3E}">
        <p14:creationId xmlns:p14="http://schemas.microsoft.com/office/powerpoint/2010/main" val="1786316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5E2B-0EE0-CBF7-53B5-A77FCB4852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260DA4-DD27-0EA6-9D73-252F6E13FF3D}"/>
              </a:ext>
            </a:extLst>
          </p:cNvPr>
          <p:cNvSpPr txBox="1">
            <a:spLocks noGrp="1"/>
          </p:cNvSpPr>
          <p:nvPr>
            <p:ph type="ctrTitle"/>
          </p:nvPr>
        </p:nvSpPr>
        <p:spPr>
          <a:xfrm>
            <a:off x="666750" y="588644"/>
            <a:ext cx="3219450" cy="532197"/>
          </a:xfrm>
          <a:prstGeom prst="rect">
            <a:avLst/>
          </a:prstGeom>
        </p:spPr>
        <p:txBody>
          <a:bodyPr vert="horz" wrap="square" lIns="0" tIns="16510" rIns="0" bIns="0" rtlCol="0">
            <a:spAutoFit/>
          </a:bodyPr>
          <a:lstStyle/>
          <a:p>
            <a:pPr marL="12700">
              <a:lnSpc>
                <a:spcPct val="100000"/>
              </a:lnSpc>
              <a:spcBef>
                <a:spcPts val="130"/>
              </a:spcBef>
            </a:pPr>
            <a:r>
              <a:rPr lang="en-IN" spc="-10" dirty="0"/>
              <a:t>Handling Outliers</a:t>
            </a:r>
            <a:endParaRPr spc="-10" dirty="0"/>
          </a:p>
        </p:txBody>
      </p:sp>
      <p:sp>
        <p:nvSpPr>
          <p:cNvPr id="4" name="object 4">
            <a:extLst>
              <a:ext uri="{FF2B5EF4-FFF2-40B4-BE49-F238E27FC236}">
                <a16:creationId xmlns:a16="http://schemas.microsoft.com/office/drawing/2014/main" id="{8690E6B8-8653-0D33-92F4-49F57CF18D2F}"/>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B345AEF6-3CD9-8E36-5A19-F5C568D1583D}"/>
              </a:ext>
            </a:extLst>
          </p:cNvPr>
          <p:cNvSpPr txBox="1"/>
          <p:nvPr/>
        </p:nvSpPr>
        <p:spPr>
          <a:xfrm>
            <a:off x="914400" y="1447800"/>
            <a:ext cx="2381250" cy="357505"/>
          </a:xfrm>
          <a:prstGeom prst="rect">
            <a:avLst/>
          </a:prstGeom>
        </p:spPr>
        <p:txBody>
          <a:bodyPr vert="horz" wrap="square" lIns="0" tIns="15875" rIns="0" bIns="0" rtlCol="0">
            <a:spAutoFit/>
          </a:bodyPr>
          <a:lstStyle/>
          <a:p>
            <a:pPr marL="12700">
              <a:lnSpc>
                <a:spcPct val="100000"/>
              </a:lnSpc>
              <a:spcBef>
                <a:spcPts val="125"/>
              </a:spcBef>
            </a:pPr>
            <a:r>
              <a:rPr lang="en-IN" sz="2150" b="1" spc="-10" dirty="0">
                <a:solidFill>
                  <a:srgbClr val="161A3D"/>
                </a:solidFill>
                <a:latin typeface="Calibri"/>
                <a:cs typeface="Calibri"/>
              </a:rPr>
              <a:t>Removing Outliers</a:t>
            </a:r>
            <a:endParaRPr sz="2150" dirty="0">
              <a:latin typeface="Calibri"/>
              <a:cs typeface="Calibri"/>
            </a:endParaRPr>
          </a:p>
        </p:txBody>
      </p:sp>
      <p:pic>
        <p:nvPicPr>
          <p:cNvPr id="8" name="Picture 7">
            <a:extLst>
              <a:ext uri="{FF2B5EF4-FFF2-40B4-BE49-F238E27FC236}">
                <a16:creationId xmlns:a16="http://schemas.microsoft.com/office/drawing/2014/main" id="{5BC48227-FEDF-D607-C37B-06C3365E3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912330"/>
            <a:ext cx="7687748" cy="4210638"/>
          </a:xfrm>
          <a:prstGeom prst="rect">
            <a:avLst/>
          </a:prstGeom>
        </p:spPr>
      </p:pic>
    </p:spTree>
    <p:extLst>
      <p:ext uri="{BB962C8B-B14F-4D97-AF65-F5344CB8AC3E}">
        <p14:creationId xmlns:p14="http://schemas.microsoft.com/office/powerpoint/2010/main" val="367502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E618-6DF8-FD91-C10B-6369F3699E7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74C408-B053-5ACF-50FB-88EDC7C1E410}"/>
              </a:ext>
            </a:extLst>
          </p:cNvPr>
          <p:cNvSpPr txBox="1">
            <a:spLocks noGrp="1"/>
          </p:cNvSpPr>
          <p:nvPr>
            <p:ph type="ctrTitle"/>
          </p:nvPr>
        </p:nvSpPr>
        <p:spPr>
          <a:xfrm>
            <a:off x="666750" y="588644"/>
            <a:ext cx="2457450" cy="532197"/>
          </a:xfrm>
          <a:prstGeom prst="rect">
            <a:avLst/>
          </a:prstGeom>
        </p:spPr>
        <p:txBody>
          <a:bodyPr vert="horz" wrap="square" lIns="0" tIns="16510" rIns="0" bIns="0" rtlCol="0">
            <a:spAutoFit/>
          </a:bodyPr>
          <a:lstStyle/>
          <a:p>
            <a:pPr marL="12700">
              <a:lnSpc>
                <a:spcPct val="100000"/>
              </a:lnSpc>
              <a:spcBef>
                <a:spcPts val="130"/>
              </a:spcBef>
            </a:pPr>
            <a:r>
              <a:rPr lang="en-IN" spc="-10" dirty="0"/>
              <a:t> Scaling</a:t>
            </a:r>
            <a:endParaRPr spc="-10" dirty="0"/>
          </a:p>
        </p:txBody>
      </p:sp>
      <p:sp>
        <p:nvSpPr>
          <p:cNvPr id="4" name="object 4">
            <a:extLst>
              <a:ext uri="{FF2B5EF4-FFF2-40B4-BE49-F238E27FC236}">
                <a16:creationId xmlns:a16="http://schemas.microsoft.com/office/drawing/2014/main" id="{FDE00E26-A9CD-FBDA-94C2-F0AF8182B37F}"/>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90EB5FEF-2D22-D406-E2A2-8540CC091D88}"/>
              </a:ext>
            </a:extLst>
          </p:cNvPr>
          <p:cNvSpPr txBox="1"/>
          <p:nvPr/>
        </p:nvSpPr>
        <p:spPr>
          <a:xfrm>
            <a:off x="666750" y="1617027"/>
            <a:ext cx="4667250" cy="346890"/>
          </a:xfrm>
          <a:prstGeom prst="rect">
            <a:avLst/>
          </a:prstGeom>
        </p:spPr>
        <p:txBody>
          <a:bodyPr vert="horz" wrap="square" lIns="0" tIns="15875" rIns="0" bIns="0" rtlCol="0">
            <a:spAutoFit/>
          </a:bodyPr>
          <a:lstStyle/>
          <a:p>
            <a:pPr marL="12700">
              <a:lnSpc>
                <a:spcPct val="100000"/>
              </a:lnSpc>
              <a:spcBef>
                <a:spcPts val="125"/>
              </a:spcBef>
            </a:pPr>
            <a:r>
              <a:rPr lang="en-IN" sz="2150" b="1" spc="-10" dirty="0">
                <a:solidFill>
                  <a:srgbClr val="161A3D"/>
                </a:solidFill>
                <a:latin typeface="Calibri"/>
                <a:cs typeface="Calibri"/>
              </a:rPr>
              <a:t>Creating data frame with scaled values</a:t>
            </a:r>
            <a:endParaRPr sz="2150" dirty="0">
              <a:latin typeface="Calibri"/>
              <a:cs typeface="Calibri"/>
            </a:endParaRPr>
          </a:p>
        </p:txBody>
      </p:sp>
      <p:pic>
        <p:nvPicPr>
          <p:cNvPr id="6" name="Picture 5">
            <a:extLst>
              <a:ext uri="{FF2B5EF4-FFF2-40B4-BE49-F238E27FC236}">
                <a16:creationId xmlns:a16="http://schemas.microsoft.com/office/drawing/2014/main" id="{FF030F9E-A621-1E38-FAE8-583DDDBBC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60103"/>
            <a:ext cx="7440063" cy="1305107"/>
          </a:xfrm>
          <a:prstGeom prst="rect">
            <a:avLst/>
          </a:prstGeom>
        </p:spPr>
      </p:pic>
    </p:spTree>
    <p:extLst>
      <p:ext uri="{BB962C8B-B14F-4D97-AF65-F5344CB8AC3E}">
        <p14:creationId xmlns:p14="http://schemas.microsoft.com/office/powerpoint/2010/main" val="3932965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C45A6-A7AA-35F0-EEF3-2D15DB8030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6591D0B-0308-A6A2-F2EC-BAD3E492A00A}"/>
              </a:ext>
            </a:extLst>
          </p:cNvPr>
          <p:cNvSpPr txBox="1">
            <a:spLocks noGrp="1"/>
          </p:cNvSpPr>
          <p:nvPr>
            <p:ph type="ctrTitle"/>
          </p:nvPr>
        </p:nvSpPr>
        <p:spPr>
          <a:xfrm>
            <a:off x="666750" y="588644"/>
            <a:ext cx="6419850" cy="532197"/>
          </a:xfrm>
          <a:prstGeom prst="rect">
            <a:avLst/>
          </a:prstGeom>
        </p:spPr>
        <p:txBody>
          <a:bodyPr vert="horz" wrap="square" lIns="0" tIns="16510" rIns="0" bIns="0" rtlCol="0">
            <a:spAutoFit/>
          </a:bodyPr>
          <a:lstStyle/>
          <a:p>
            <a:pPr marL="12700">
              <a:lnSpc>
                <a:spcPct val="100000"/>
              </a:lnSpc>
              <a:spcBef>
                <a:spcPts val="130"/>
              </a:spcBef>
            </a:pPr>
            <a:r>
              <a:rPr lang="en-IN" spc="-10" dirty="0"/>
              <a:t>Elbow curve for K-Means</a:t>
            </a:r>
            <a:endParaRPr spc="-10" dirty="0"/>
          </a:p>
        </p:txBody>
      </p:sp>
      <p:sp>
        <p:nvSpPr>
          <p:cNvPr id="4" name="object 4">
            <a:extLst>
              <a:ext uri="{FF2B5EF4-FFF2-40B4-BE49-F238E27FC236}">
                <a16:creationId xmlns:a16="http://schemas.microsoft.com/office/drawing/2014/main" id="{A41DEF59-FDD6-39BA-6BFD-408D0F9D7DC5}"/>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pic>
        <p:nvPicPr>
          <p:cNvPr id="8" name="Picture 7">
            <a:extLst>
              <a:ext uri="{FF2B5EF4-FFF2-40B4-BE49-F238E27FC236}">
                <a16:creationId xmlns:a16="http://schemas.microsoft.com/office/drawing/2014/main" id="{1F956F91-BAD1-D113-D168-2EDB2F227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474824"/>
            <a:ext cx="4800600" cy="3173375"/>
          </a:xfrm>
          <a:prstGeom prst="rect">
            <a:avLst/>
          </a:prstGeom>
        </p:spPr>
      </p:pic>
      <p:pic>
        <p:nvPicPr>
          <p:cNvPr id="10" name="Picture 9">
            <a:extLst>
              <a:ext uri="{FF2B5EF4-FFF2-40B4-BE49-F238E27FC236}">
                <a16:creationId xmlns:a16="http://schemas.microsoft.com/office/drawing/2014/main" id="{3ED1EB62-53CC-7CF3-9EF1-CE1A35ADA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0873" y="1276161"/>
            <a:ext cx="6488837" cy="4305677"/>
          </a:xfrm>
          <a:prstGeom prst="rect">
            <a:avLst/>
          </a:prstGeom>
        </p:spPr>
      </p:pic>
    </p:spTree>
    <p:extLst>
      <p:ext uri="{BB962C8B-B14F-4D97-AF65-F5344CB8AC3E}">
        <p14:creationId xmlns:p14="http://schemas.microsoft.com/office/powerpoint/2010/main" val="1987188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9209-048E-5C58-9A0D-2A917118E8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56CF1E-AD37-C7C7-0BCB-8E759790073C}"/>
              </a:ext>
            </a:extLst>
          </p:cNvPr>
          <p:cNvSpPr txBox="1">
            <a:spLocks noGrp="1"/>
          </p:cNvSpPr>
          <p:nvPr>
            <p:ph type="ctrTitle"/>
          </p:nvPr>
        </p:nvSpPr>
        <p:spPr>
          <a:xfrm>
            <a:off x="666750" y="588644"/>
            <a:ext cx="3676650" cy="532197"/>
          </a:xfrm>
          <a:prstGeom prst="rect">
            <a:avLst/>
          </a:prstGeom>
        </p:spPr>
        <p:txBody>
          <a:bodyPr vert="horz" wrap="square" lIns="0" tIns="16510" rIns="0" bIns="0" rtlCol="0">
            <a:spAutoFit/>
          </a:bodyPr>
          <a:lstStyle/>
          <a:p>
            <a:pPr marL="12700">
              <a:lnSpc>
                <a:spcPct val="100000"/>
              </a:lnSpc>
              <a:spcBef>
                <a:spcPts val="130"/>
              </a:spcBef>
            </a:pPr>
            <a:r>
              <a:rPr lang="en-IN" spc="-10" dirty="0"/>
              <a:t>Silhouette Score</a:t>
            </a:r>
            <a:endParaRPr spc="-10" dirty="0"/>
          </a:p>
        </p:txBody>
      </p:sp>
      <p:sp>
        <p:nvSpPr>
          <p:cNvPr id="4" name="object 4">
            <a:extLst>
              <a:ext uri="{FF2B5EF4-FFF2-40B4-BE49-F238E27FC236}">
                <a16:creationId xmlns:a16="http://schemas.microsoft.com/office/drawing/2014/main" id="{F9141E87-734E-9293-FB70-9909586BB8F8}"/>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pic>
        <p:nvPicPr>
          <p:cNvPr id="6" name="Picture 5">
            <a:extLst>
              <a:ext uri="{FF2B5EF4-FFF2-40B4-BE49-F238E27FC236}">
                <a16:creationId xmlns:a16="http://schemas.microsoft.com/office/drawing/2014/main" id="{CAE0498D-FC88-9207-3A63-F40D18331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364165"/>
            <a:ext cx="8773749" cy="4706007"/>
          </a:xfrm>
          <a:prstGeom prst="rect">
            <a:avLst/>
          </a:prstGeom>
        </p:spPr>
      </p:pic>
    </p:spTree>
    <p:extLst>
      <p:ext uri="{BB962C8B-B14F-4D97-AF65-F5344CB8AC3E}">
        <p14:creationId xmlns:p14="http://schemas.microsoft.com/office/powerpoint/2010/main" val="3699848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C99D9-AB5F-F753-0F74-4750DEA338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1B77E3-63CA-BE2C-41D4-35BF9A262855}"/>
              </a:ext>
            </a:extLst>
          </p:cNvPr>
          <p:cNvSpPr txBox="1">
            <a:spLocks noGrp="1"/>
          </p:cNvSpPr>
          <p:nvPr>
            <p:ph type="ctrTitle"/>
          </p:nvPr>
        </p:nvSpPr>
        <p:spPr>
          <a:xfrm>
            <a:off x="666750" y="588644"/>
            <a:ext cx="6572250" cy="532197"/>
          </a:xfrm>
          <a:prstGeom prst="rect">
            <a:avLst/>
          </a:prstGeom>
        </p:spPr>
        <p:txBody>
          <a:bodyPr vert="horz" wrap="square" lIns="0" tIns="16510" rIns="0" bIns="0" rtlCol="0">
            <a:spAutoFit/>
          </a:bodyPr>
          <a:lstStyle/>
          <a:p>
            <a:pPr marL="12700">
              <a:lnSpc>
                <a:spcPct val="100000"/>
              </a:lnSpc>
              <a:spcBef>
                <a:spcPts val="130"/>
              </a:spcBef>
            </a:pPr>
            <a:r>
              <a:rPr lang="en-IN" spc="-10" dirty="0"/>
              <a:t>Customer Segmentation</a:t>
            </a:r>
            <a:endParaRPr spc="-10" dirty="0"/>
          </a:p>
        </p:txBody>
      </p:sp>
      <p:sp>
        <p:nvSpPr>
          <p:cNvPr id="4" name="object 4">
            <a:extLst>
              <a:ext uri="{FF2B5EF4-FFF2-40B4-BE49-F238E27FC236}">
                <a16:creationId xmlns:a16="http://schemas.microsoft.com/office/drawing/2014/main" id="{EA94BB6C-A857-4117-1E50-26C0FF8EE025}"/>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99DC50E5-00D6-90C5-FC31-A3EE9EF516D6}"/>
              </a:ext>
            </a:extLst>
          </p:cNvPr>
          <p:cNvSpPr txBox="1"/>
          <p:nvPr/>
        </p:nvSpPr>
        <p:spPr>
          <a:xfrm>
            <a:off x="666750" y="1617027"/>
            <a:ext cx="8934450" cy="1352293"/>
          </a:xfrm>
          <a:prstGeom prst="rect">
            <a:avLst/>
          </a:prstGeom>
        </p:spPr>
        <p:txBody>
          <a:bodyPr vert="horz" wrap="square" lIns="0" tIns="15875" rIns="0" bIns="0" rtlCol="0">
            <a:spAutoFit/>
          </a:bodyPr>
          <a:lstStyle/>
          <a:p>
            <a:pPr marL="355600" indent="-342900">
              <a:spcBef>
                <a:spcPts val="125"/>
              </a:spcBef>
              <a:buFont typeface="Arial" panose="020B0604020202020204" pitchFamily="34" charset="0"/>
              <a:buChar char="•"/>
            </a:pPr>
            <a:r>
              <a:rPr lang="en-IN" sz="2150" spc="-10" dirty="0">
                <a:solidFill>
                  <a:schemeClr val="tx1"/>
                </a:solidFill>
                <a:latin typeface="Calibri"/>
                <a:cs typeface="Calibri"/>
              </a:rPr>
              <a:t>Different clustering methods are used, such as K-means, Hierarchical clustering, DBSCAN clustering, etc</a:t>
            </a:r>
          </a:p>
          <a:p>
            <a:pPr marL="355600" indent="-342900">
              <a:spcBef>
                <a:spcPts val="125"/>
              </a:spcBef>
              <a:buFont typeface="Arial" panose="020B0604020202020204" pitchFamily="34" charset="0"/>
              <a:buChar char="•"/>
            </a:pPr>
            <a:r>
              <a:rPr lang="en-IN" sz="2150" spc="-10" dirty="0">
                <a:solidFill>
                  <a:schemeClr val="tx1"/>
                </a:solidFill>
                <a:latin typeface="Calibri"/>
                <a:cs typeface="Calibri"/>
              </a:rPr>
              <a:t>Out of these, K-means clustering was chosen for segmenting the customer because it is simple, efficient, and  scales well to large datasets.</a:t>
            </a:r>
          </a:p>
        </p:txBody>
      </p:sp>
      <p:pic>
        <p:nvPicPr>
          <p:cNvPr id="6" name="Picture 5">
            <a:extLst>
              <a:ext uri="{FF2B5EF4-FFF2-40B4-BE49-F238E27FC236}">
                <a16:creationId xmlns:a16="http://schemas.microsoft.com/office/drawing/2014/main" id="{B2AAC4D7-946A-7BB1-44DD-C97FC934B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3325568"/>
            <a:ext cx="8480449" cy="2160832"/>
          </a:xfrm>
          <a:prstGeom prst="rect">
            <a:avLst/>
          </a:prstGeom>
        </p:spPr>
      </p:pic>
    </p:spTree>
    <p:extLst>
      <p:ext uri="{BB962C8B-B14F-4D97-AF65-F5344CB8AC3E}">
        <p14:creationId xmlns:p14="http://schemas.microsoft.com/office/powerpoint/2010/main" val="223106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B3F7-340E-91E2-3EF1-506CD6C4655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AE247D-36CC-295E-11C4-C5CA8818D0EB}"/>
              </a:ext>
            </a:extLst>
          </p:cNvPr>
          <p:cNvSpPr txBox="1">
            <a:spLocks noGrp="1"/>
          </p:cNvSpPr>
          <p:nvPr>
            <p:ph type="ctrTitle"/>
          </p:nvPr>
        </p:nvSpPr>
        <p:spPr>
          <a:xfrm>
            <a:off x="666750" y="588644"/>
            <a:ext cx="8705850" cy="532197"/>
          </a:xfrm>
          <a:prstGeom prst="rect">
            <a:avLst/>
          </a:prstGeom>
        </p:spPr>
        <p:txBody>
          <a:bodyPr vert="horz" wrap="square" lIns="0" tIns="16510" rIns="0" bIns="0" rtlCol="0">
            <a:spAutoFit/>
          </a:bodyPr>
          <a:lstStyle/>
          <a:p>
            <a:pPr marL="12700">
              <a:lnSpc>
                <a:spcPct val="100000"/>
              </a:lnSpc>
              <a:spcBef>
                <a:spcPts val="130"/>
              </a:spcBef>
            </a:pPr>
            <a:r>
              <a:rPr lang="en-IN" spc="-10" dirty="0"/>
              <a:t>Insights for cluster to improve the Business</a:t>
            </a:r>
            <a:endParaRPr spc="-10" dirty="0"/>
          </a:p>
        </p:txBody>
      </p:sp>
      <p:sp>
        <p:nvSpPr>
          <p:cNvPr id="4" name="object 4">
            <a:extLst>
              <a:ext uri="{FF2B5EF4-FFF2-40B4-BE49-F238E27FC236}">
                <a16:creationId xmlns:a16="http://schemas.microsoft.com/office/drawing/2014/main" id="{E09EC4BA-CBB9-E855-E1BD-BA26540752EA}"/>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F2208DB3-58CB-0D41-C54C-E0E5129486FA}"/>
              </a:ext>
            </a:extLst>
          </p:cNvPr>
          <p:cNvSpPr txBox="1"/>
          <p:nvPr/>
        </p:nvSpPr>
        <p:spPr>
          <a:xfrm>
            <a:off x="838200" y="1676400"/>
            <a:ext cx="9163050" cy="1479251"/>
          </a:xfrm>
          <a:prstGeom prst="rect">
            <a:avLst/>
          </a:prstGeom>
        </p:spPr>
        <p:txBody>
          <a:bodyPr vert="horz" wrap="square" lIns="0" tIns="15875" rIns="0" bIns="0" rtlCol="0">
            <a:spAutoFit/>
          </a:bodyPr>
          <a:lstStyle/>
          <a:p>
            <a:pPr marL="469900" indent="-457200">
              <a:lnSpc>
                <a:spcPct val="150000"/>
              </a:lnSpc>
              <a:spcBef>
                <a:spcPts val="125"/>
              </a:spcBef>
              <a:buFont typeface="+mj-lt"/>
              <a:buAutoNum type="arabicPeriod"/>
            </a:pPr>
            <a:r>
              <a:rPr lang="en-IN" sz="2150" b="1" spc="-10" dirty="0">
                <a:solidFill>
                  <a:schemeClr val="tx1"/>
                </a:solidFill>
                <a:latin typeface="Calibri"/>
                <a:cs typeface="Calibri"/>
              </a:rPr>
              <a:t>High-value customers</a:t>
            </a:r>
            <a:r>
              <a:rPr lang="en-IN" sz="2150" spc="-10" dirty="0">
                <a:solidFill>
                  <a:schemeClr val="tx1"/>
                </a:solidFill>
                <a:latin typeface="Calibri"/>
                <a:cs typeface="Calibri"/>
              </a:rPr>
              <a:t>: Offer loyalty, programs and exclusive discounts.</a:t>
            </a:r>
          </a:p>
          <a:p>
            <a:pPr marL="469900" indent="-457200">
              <a:lnSpc>
                <a:spcPct val="150000"/>
              </a:lnSpc>
              <a:spcBef>
                <a:spcPts val="125"/>
              </a:spcBef>
              <a:buFont typeface="+mj-lt"/>
              <a:buAutoNum type="arabicPeriod"/>
            </a:pPr>
            <a:r>
              <a:rPr lang="en-IN" sz="2150" b="1" spc="-10" dirty="0">
                <a:solidFill>
                  <a:schemeClr val="tx1"/>
                </a:solidFill>
                <a:latin typeface="Calibri"/>
                <a:cs typeface="Calibri"/>
              </a:rPr>
              <a:t>Recent but low-frequency customers</a:t>
            </a:r>
            <a:r>
              <a:rPr lang="en-IN" sz="2150" spc="-10" dirty="0">
                <a:solidFill>
                  <a:schemeClr val="tx1"/>
                </a:solidFill>
                <a:latin typeface="Calibri"/>
                <a:cs typeface="Calibri"/>
              </a:rPr>
              <a:t>: Send personalized recommendations.</a:t>
            </a:r>
          </a:p>
          <a:p>
            <a:pPr marL="469900" indent="-457200">
              <a:lnSpc>
                <a:spcPct val="150000"/>
              </a:lnSpc>
              <a:spcBef>
                <a:spcPts val="125"/>
              </a:spcBef>
              <a:buFont typeface="+mj-lt"/>
              <a:buAutoNum type="arabicPeriod"/>
            </a:pPr>
            <a:r>
              <a:rPr lang="en-IN" sz="2150" b="1" spc="-10" dirty="0">
                <a:solidFill>
                  <a:schemeClr val="tx1"/>
                </a:solidFill>
                <a:latin typeface="Calibri"/>
                <a:cs typeface="Calibri"/>
              </a:rPr>
              <a:t>Inactive customers</a:t>
            </a:r>
            <a:r>
              <a:rPr lang="en-IN" sz="2150" spc="-10" dirty="0">
                <a:solidFill>
                  <a:schemeClr val="tx1"/>
                </a:solidFill>
                <a:latin typeface="Calibri"/>
                <a:cs typeface="Calibri"/>
              </a:rPr>
              <a:t>: re-engage with special offer and reminders.</a:t>
            </a:r>
            <a:endParaRPr sz="2150" dirty="0">
              <a:solidFill>
                <a:schemeClr val="tx1"/>
              </a:solidFill>
              <a:latin typeface="Calibri"/>
              <a:cs typeface="Calibri"/>
            </a:endParaRPr>
          </a:p>
        </p:txBody>
      </p:sp>
    </p:spTree>
    <p:extLst>
      <p:ext uri="{BB962C8B-B14F-4D97-AF65-F5344CB8AC3E}">
        <p14:creationId xmlns:p14="http://schemas.microsoft.com/office/powerpoint/2010/main" val="2365921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F2599-DF95-BB56-35D5-665EE5657C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FE2174-01F7-EC8D-C570-4AB177BE0C65}"/>
              </a:ext>
            </a:extLst>
          </p:cNvPr>
          <p:cNvSpPr txBox="1">
            <a:spLocks noGrp="1"/>
          </p:cNvSpPr>
          <p:nvPr>
            <p:ph type="ctrTitle"/>
          </p:nvPr>
        </p:nvSpPr>
        <p:spPr>
          <a:xfrm>
            <a:off x="666750" y="588644"/>
            <a:ext cx="7410450" cy="532197"/>
          </a:xfrm>
          <a:prstGeom prst="rect">
            <a:avLst/>
          </a:prstGeom>
        </p:spPr>
        <p:txBody>
          <a:bodyPr vert="horz" wrap="square" lIns="0" tIns="16510" rIns="0" bIns="0" rtlCol="0">
            <a:spAutoFit/>
          </a:bodyPr>
          <a:lstStyle/>
          <a:p>
            <a:pPr marL="12700">
              <a:lnSpc>
                <a:spcPct val="100000"/>
              </a:lnSpc>
              <a:spcBef>
                <a:spcPts val="130"/>
              </a:spcBef>
            </a:pPr>
            <a:r>
              <a:rPr lang="en-IN" spc="-10" dirty="0"/>
              <a:t>Performance Summary:</a:t>
            </a:r>
            <a:endParaRPr spc="-10" dirty="0"/>
          </a:p>
        </p:txBody>
      </p:sp>
      <p:sp>
        <p:nvSpPr>
          <p:cNvPr id="4" name="object 4">
            <a:extLst>
              <a:ext uri="{FF2B5EF4-FFF2-40B4-BE49-F238E27FC236}">
                <a16:creationId xmlns:a16="http://schemas.microsoft.com/office/drawing/2014/main" id="{25FA0C87-82E9-1B59-AA88-752A4651B038}"/>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33481241-F6E2-6D36-2FC3-464A5E4CC2BB}"/>
              </a:ext>
            </a:extLst>
          </p:cNvPr>
          <p:cNvSpPr txBox="1"/>
          <p:nvPr/>
        </p:nvSpPr>
        <p:spPr>
          <a:xfrm>
            <a:off x="666750" y="1617027"/>
            <a:ext cx="6191250" cy="1034257"/>
          </a:xfrm>
          <a:prstGeom prst="rect">
            <a:avLst/>
          </a:prstGeom>
        </p:spPr>
        <p:txBody>
          <a:bodyPr vert="horz" wrap="square" lIns="0" tIns="15875" rIns="0" bIns="0" rtlCol="0">
            <a:spAutoFit/>
          </a:bodyPr>
          <a:lstStyle/>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Random Forest: </a:t>
            </a:r>
            <a:r>
              <a:rPr lang="en-IN" sz="2150" spc="-10" dirty="0">
                <a:solidFill>
                  <a:srgbClr val="161A3D"/>
                </a:solidFill>
                <a:latin typeface="Calibri"/>
                <a:cs typeface="Calibri"/>
              </a:rPr>
              <a:t>1.00% accuracy.</a:t>
            </a:r>
          </a:p>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SVM: </a:t>
            </a:r>
            <a:r>
              <a:rPr lang="en-IN" sz="2150" spc="-10" dirty="0">
                <a:solidFill>
                  <a:srgbClr val="161A3D"/>
                </a:solidFill>
                <a:latin typeface="Calibri"/>
                <a:cs typeface="Calibri"/>
              </a:rPr>
              <a:t>99.29% accuracy</a:t>
            </a:r>
          </a:p>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Gradient boost:</a:t>
            </a:r>
            <a:r>
              <a:rPr lang="en-IN" sz="2000" b="1" spc="-10" dirty="0">
                <a:solidFill>
                  <a:srgbClr val="161A3D"/>
                </a:solidFill>
                <a:latin typeface="Calibri"/>
                <a:cs typeface="Calibri"/>
              </a:rPr>
              <a:t> </a:t>
            </a:r>
            <a:r>
              <a:rPr lang="en-IN" sz="2000" spc="-10" dirty="0">
                <a:solidFill>
                  <a:srgbClr val="161A3D"/>
                </a:solidFill>
                <a:latin typeface="Calibri"/>
                <a:cs typeface="Calibri"/>
              </a:rPr>
              <a:t>1.00% accuracy</a:t>
            </a:r>
            <a:endParaRPr lang="en-IN" sz="2150" b="1" spc="-10" dirty="0">
              <a:solidFill>
                <a:srgbClr val="161A3D"/>
              </a:solidFill>
              <a:latin typeface="Calibri"/>
              <a:cs typeface="Calibri"/>
            </a:endParaRPr>
          </a:p>
        </p:txBody>
      </p:sp>
      <p:sp>
        <p:nvSpPr>
          <p:cNvPr id="5" name="object 3">
            <a:extLst>
              <a:ext uri="{FF2B5EF4-FFF2-40B4-BE49-F238E27FC236}">
                <a16:creationId xmlns:a16="http://schemas.microsoft.com/office/drawing/2014/main" id="{864C7D3B-2780-0AD7-4939-9A401B98BD8D}"/>
              </a:ext>
            </a:extLst>
          </p:cNvPr>
          <p:cNvSpPr txBox="1"/>
          <p:nvPr/>
        </p:nvSpPr>
        <p:spPr>
          <a:xfrm>
            <a:off x="762000" y="3429000"/>
            <a:ext cx="6629400" cy="1377941"/>
          </a:xfrm>
          <a:prstGeom prst="rect">
            <a:avLst/>
          </a:prstGeom>
        </p:spPr>
        <p:txBody>
          <a:bodyPr vert="horz" wrap="square" lIns="0" tIns="15875" rIns="0" bIns="0" rtlCol="0">
            <a:spAutoFit/>
          </a:bodyPr>
          <a:lstStyle/>
          <a:p>
            <a:pPr marL="12700">
              <a:lnSpc>
                <a:spcPct val="100000"/>
              </a:lnSpc>
              <a:spcBef>
                <a:spcPts val="125"/>
              </a:spcBef>
            </a:pPr>
            <a:r>
              <a:rPr lang="en-IN" sz="2150" b="1" spc="-10" dirty="0">
                <a:solidFill>
                  <a:srgbClr val="161A3D"/>
                </a:solidFill>
                <a:latin typeface="Calibri"/>
                <a:cs typeface="Calibri"/>
              </a:rPr>
              <a:t>Metrics Used:</a:t>
            </a:r>
          </a:p>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Precision: </a:t>
            </a:r>
            <a:r>
              <a:rPr lang="en-IN" sz="2150" spc="-10" dirty="0">
                <a:solidFill>
                  <a:srgbClr val="161A3D"/>
                </a:solidFill>
                <a:latin typeface="Calibri"/>
                <a:cs typeface="Calibri"/>
              </a:rPr>
              <a:t>Model’s ability to predict the cluster correctly.</a:t>
            </a:r>
            <a:endParaRPr lang="en-IN" sz="2150" b="1" spc="-10" dirty="0">
              <a:solidFill>
                <a:srgbClr val="161A3D"/>
              </a:solidFill>
              <a:latin typeface="Calibri"/>
              <a:cs typeface="Calibri"/>
            </a:endParaRPr>
          </a:p>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Recall: </a:t>
            </a:r>
            <a:r>
              <a:rPr lang="en-IN" sz="2150" spc="-10" dirty="0">
                <a:solidFill>
                  <a:srgbClr val="161A3D"/>
                </a:solidFill>
                <a:latin typeface="Calibri"/>
                <a:cs typeface="Calibri"/>
              </a:rPr>
              <a:t>Sensitivity to capture all true positives.</a:t>
            </a:r>
            <a:endParaRPr lang="en-IN" sz="2150" b="1" spc="-10" dirty="0">
              <a:solidFill>
                <a:srgbClr val="161A3D"/>
              </a:solidFill>
              <a:latin typeface="Calibri"/>
              <a:cs typeface="Calibri"/>
            </a:endParaRPr>
          </a:p>
          <a:p>
            <a:pPr marL="355600" indent="-342900">
              <a:lnSpc>
                <a:spcPct val="100000"/>
              </a:lnSpc>
              <a:spcBef>
                <a:spcPts val="125"/>
              </a:spcBef>
              <a:buFont typeface="Arial" panose="020B0604020202020204" pitchFamily="34" charset="0"/>
              <a:buChar char="•"/>
            </a:pPr>
            <a:r>
              <a:rPr lang="en-IN" sz="2150" b="1" spc="-10" dirty="0">
                <a:solidFill>
                  <a:srgbClr val="161A3D"/>
                </a:solidFill>
                <a:latin typeface="Calibri"/>
                <a:cs typeface="Calibri"/>
              </a:rPr>
              <a:t>F1-Score:</a:t>
            </a:r>
            <a:r>
              <a:rPr lang="en-IN" sz="2150" spc="-10" dirty="0">
                <a:solidFill>
                  <a:srgbClr val="161A3D"/>
                </a:solidFill>
                <a:latin typeface="Calibri"/>
                <a:cs typeface="Calibri"/>
              </a:rPr>
              <a:t> Balance between precision and recall.</a:t>
            </a:r>
          </a:p>
        </p:txBody>
      </p:sp>
      <p:pic>
        <p:nvPicPr>
          <p:cNvPr id="7" name="Picture 6">
            <a:extLst>
              <a:ext uri="{FF2B5EF4-FFF2-40B4-BE49-F238E27FC236}">
                <a16:creationId xmlns:a16="http://schemas.microsoft.com/office/drawing/2014/main" id="{0058E908-DEB6-2A4A-6088-C8C43187E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117" y="5042306"/>
            <a:ext cx="5487166" cy="1019317"/>
          </a:xfrm>
          <a:prstGeom prst="rect">
            <a:avLst/>
          </a:prstGeom>
        </p:spPr>
      </p:pic>
      <p:pic>
        <p:nvPicPr>
          <p:cNvPr id="9" name="Picture 8">
            <a:extLst>
              <a:ext uri="{FF2B5EF4-FFF2-40B4-BE49-F238E27FC236}">
                <a16:creationId xmlns:a16="http://schemas.microsoft.com/office/drawing/2014/main" id="{4E9C5E79-A6B3-8AFF-A563-367865D58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588644"/>
            <a:ext cx="4114800" cy="2992756"/>
          </a:xfrm>
          <a:prstGeom prst="rect">
            <a:avLst/>
          </a:prstGeom>
        </p:spPr>
      </p:pic>
      <p:pic>
        <p:nvPicPr>
          <p:cNvPr id="11" name="Picture 10">
            <a:extLst>
              <a:ext uri="{FF2B5EF4-FFF2-40B4-BE49-F238E27FC236}">
                <a16:creationId xmlns:a16="http://schemas.microsoft.com/office/drawing/2014/main" id="{BDFAE35A-10F9-AB46-5D0A-1E47D21723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0" y="3735023"/>
            <a:ext cx="4410925" cy="2326600"/>
          </a:xfrm>
          <a:prstGeom prst="rect">
            <a:avLst/>
          </a:prstGeom>
        </p:spPr>
      </p:pic>
    </p:spTree>
    <p:extLst>
      <p:ext uri="{BB962C8B-B14F-4D97-AF65-F5344CB8AC3E}">
        <p14:creationId xmlns:p14="http://schemas.microsoft.com/office/powerpoint/2010/main" val="4165110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001B0-1FB2-3C51-EB81-B4D6266DFB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34FC36-C29B-7F1A-F4D8-B8A3FDBB06CA}"/>
              </a:ext>
            </a:extLst>
          </p:cNvPr>
          <p:cNvSpPr txBox="1">
            <a:spLocks noGrp="1"/>
          </p:cNvSpPr>
          <p:nvPr>
            <p:ph type="ctrTitle"/>
          </p:nvPr>
        </p:nvSpPr>
        <p:spPr>
          <a:xfrm>
            <a:off x="674124" y="290002"/>
            <a:ext cx="4362450" cy="532197"/>
          </a:xfrm>
          <a:prstGeom prst="rect">
            <a:avLst/>
          </a:prstGeom>
        </p:spPr>
        <p:txBody>
          <a:bodyPr vert="horz" wrap="square" lIns="0" tIns="16510" rIns="0" bIns="0" rtlCol="0">
            <a:spAutoFit/>
          </a:bodyPr>
          <a:lstStyle/>
          <a:p>
            <a:pPr marL="12700">
              <a:lnSpc>
                <a:spcPct val="100000"/>
              </a:lnSpc>
              <a:spcBef>
                <a:spcPts val="130"/>
              </a:spcBef>
            </a:pPr>
            <a:r>
              <a:rPr lang="en-IN" dirty="0"/>
              <a:t>Conclusion</a:t>
            </a:r>
            <a:endParaRPr spc="-10" dirty="0"/>
          </a:p>
        </p:txBody>
      </p:sp>
      <p:sp>
        <p:nvSpPr>
          <p:cNvPr id="4" name="object 4">
            <a:extLst>
              <a:ext uri="{FF2B5EF4-FFF2-40B4-BE49-F238E27FC236}">
                <a16:creationId xmlns:a16="http://schemas.microsoft.com/office/drawing/2014/main" id="{1060F073-64C1-24BB-2FEC-FC354F10FFB6}"/>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713AF156-81FE-1FBC-277F-1D78CBF74A9E}"/>
              </a:ext>
            </a:extLst>
          </p:cNvPr>
          <p:cNvSpPr txBox="1"/>
          <p:nvPr/>
        </p:nvSpPr>
        <p:spPr>
          <a:xfrm>
            <a:off x="838200" y="922026"/>
            <a:ext cx="10515600" cy="5489260"/>
          </a:xfrm>
          <a:prstGeom prst="rect">
            <a:avLst/>
          </a:prstGeom>
        </p:spPr>
        <p:txBody>
          <a:bodyPr vert="horz" wrap="square" lIns="0" tIns="15875" rIns="0" bIns="0" rtlCol="0">
            <a:spAutoFit/>
          </a:bodyPr>
          <a:lstStyle/>
          <a:p>
            <a:pPr algn="l">
              <a:lnSpc>
                <a:spcPct val="150000"/>
              </a:lnSpc>
            </a:pPr>
            <a:r>
              <a:rPr lang="en-US" sz="1400" b="1" dirty="0"/>
              <a:t>I. Customer Value Segmentation</a:t>
            </a:r>
          </a:p>
          <a:p>
            <a:pPr algn="l">
              <a:lnSpc>
                <a:spcPct val="150000"/>
              </a:lnSpc>
            </a:pPr>
            <a:r>
              <a:rPr lang="en-US" sz="1400" dirty="0"/>
              <a:t>I. Identify high-value customers for loyalty programs and exclusive offers.</a:t>
            </a:r>
            <a:br>
              <a:rPr lang="en-US" sz="1400" dirty="0"/>
            </a:br>
            <a:r>
              <a:rPr lang="en-US" sz="1400" dirty="0"/>
              <a:t>II. Encourage medium-value customers to increase spending through personalized recommendations.</a:t>
            </a:r>
            <a:br>
              <a:rPr lang="en-US" sz="1400" dirty="0"/>
            </a:br>
            <a:r>
              <a:rPr lang="en-US" sz="1400" dirty="0"/>
              <a:t>III. Re-engage low-value customers to boost purchasing frequency.</a:t>
            </a:r>
            <a:br>
              <a:rPr lang="en-US" sz="1400" dirty="0"/>
            </a:br>
            <a:r>
              <a:rPr lang="en-US" sz="1400" dirty="0"/>
              <a:t>IV. Optimize inventory management and plan targeted marketing campaigns based on purchasing patterns.</a:t>
            </a:r>
          </a:p>
          <a:p>
            <a:pPr algn="l">
              <a:lnSpc>
                <a:spcPct val="150000"/>
              </a:lnSpc>
            </a:pPr>
            <a:r>
              <a:rPr lang="en-US" sz="1400" b="1" dirty="0"/>
              <a:t>II. Behavioral Patterns</a:t>
            </a:r>
          </a:p>
          <a:p>
            <a:pPr algn="l">
              <a:lnSpc>
                <a:spcPct val="150000"/>
              </a:lnSpc>
            </a:pPr>
            <a:r>
              <a:rPr lang="en-US" sz="1400" dirty="0"/>
              <a:t>I. Analyze recency, frequency, and monetary value to identify active, loyal, and high-spending customers for targeted marketing efforts.</a:t>
            </a:r>
          </a:p>
          <a:p>
            <a:pPr algn="l">
              <a:lnSpc>
                <a:spcPct val="150000"/>
              </a:lnSpc>
            </a:pPr>
            <a:r>
              <a:rPr lang="en-US" sz="1400" b="1" dirty="0"/>
              <a:t>III. Predictive Insights</a:t>
            </a:r>
          </a:p>
          <a:p>
            <a:pPr algn="l">
              <a:lnSpc>
                <a:spcPct val="150000"/>
              </a:lnSpc>
            </a:pPr>
            <a:r>
              <a:rPr lang="en-US" sz="1400" dirty="0"/>
              <a:t>I. Use predictive models to forecast customer segments, enabling proactive marketing and retention strategies.</a:t>
            </a:r>
          </a:p>
          <a:p>
            <a:pPr algn="l">
              <a:lnSpc>
                <a:spcPct val="150000"/>
              </a:lnSpc>
            </a:pPr>
            <a:r>
              <a:rPr lang="en-US" sz="1400" b="1" dirty="0"/>
              <a:t>IV. Inventory Optimization</a:t>
            </a:r>
          </a:p>
          <a:p>
            <a:pPr algn="l">
              <a:lnSpc>
                <a:spcPct val="150000"/>
              </a:lnSpc>
            </a:pPr>
            <a:r>
              <a:rPr lang="en-US" sz="1400" dirty="0"/>
              <a:t>I. Optimize inventory management by understanding top-selling products and purchasing patterns to keep popular products in stock and reduce overstock.</a:t>
            </a:r>
          </a:p>
          <a:p>
            <a:pPr algn="l">
              <a:lnSpc>
                <a:spcPct val="150000"/>
              </a:lnSpc>
            </a:pPr>
            <a:r>
              <a:rPr lang="en-US" sz="1400" b="1" dirty="0"/>
              <a:t>V. Marketing Efficiency</a:t>
            </a:r>
          </a:p>
          <a:p>
            <a:pPr algn="l">
              <a:lnSpc>
                <a:spcPct val="150000"/>
              </a:lnSpc>
            </a:pPr>
            <a:r>
              <a:rPr lang="en-US" sz="1400" dirty="0"/>
              <a:t>I. Improve marketing efficiency by tailoring campaigns based on customer segments, ensuring resources are allocated to the most promising groups.</a:t>
            </a:r>
          </a:p>
          <a:p>
            <a:pPr marL="12700" algn="l">
              <a:lnSpc>
                <a:spcPct val="150000"/>
              </a:lnSpc>
              <a:spcBef>
                <a:spcPts val="125"/>
              </a:spcBef>
            </a:pPr>
            <a:endParaRPr sz="1400" dirty="0">
              <a:latin typeface="Calibri"/>
              <a:cs typeface="Calibri"/>
            </a:endParaRPr>
          </a:p>
        </p:txBody>
      </p:sp>
    </p:spTree>
    <p:extLst>
      <p:ext uri="{BB962C8B-B14F-4D97-AF65-F5344CB8AC3E}">
        <p14:creationId xmlns:p14="http://schemas.microsoft.com/office/powerpoint/2010/main" val="1763741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7D6C6-2F48-D1F1-88C4-A290CB7354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A664B5-0BDF-A7BE-784B-1FDB6AA97960}"/>
              </a:ext>
            </a:extLst>
          </p:cNvPr>
          <p:cNvSpPr txBox="1">
            <a:spLocks noGrp="1"/>
          </p:cNvSpPr>
          <p:nvPr>
            <p:ph type="ctrTitle"/>
          </p:nvPr>
        </p:nvSpPr>
        <p:spPr>
          <a:xfrm>
            <a:off x="666750" y="588644"/>
            <a:ext cx="5353050" cy="532197"/>
          </a:xfrm>
          <a:prstGeom prst="rect">
            <a:avLst/>
          </a:prstGeom>
        </p:spPr>
        <p:txBody>
          <a:bodyPr vert="horz" wrap="square" lIns="0" tIns="16510" rIns="0" bIns="0" rtlCol="0">
            <a:spAutoFit/>
          </a:bodyPr>
          <a:lstStyle/>
          <a:p>
            <a:pPr marL="12700">
              <a:lnSpc>
                <a:spcPct val="100000"/>
              </a:lnSpc>
              <a:spcBef>
                <a:spcPts val="130"/>
              </a:spcBef>
            </a:pPr>
            <a:r>
              <a:rPr lang="en-IN" dirty="0"/>
              <a:t>Conclusion</a:t>
            </a:r>
            <a:endParaRPr spc="-10" dirty="0"/>
          </a:p>
        </p:txBody>
      </p:sp>
      <p:sp>
        <p:nvSpPr>
          <p:cNvPr id="4" name="object 4">
            <a:extLst>
              <a:ext uri="{FF2B5EF4-FFF2-40B4-BE49-F238E27FC236}">
                <a16:creationId xmlns:a16="http://schemas.microsoft.com/office/drawing/2014/main" id="{D27A1F76-1C1E-BF1A-A4BE-9243741A65DA}"/>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F1FAA782-FD7E-A11D-CC6C-3EFE2F69D4C0}"/>
              </a:ext>
            </a:extLst>
          </p:cNvPr>
          <p:cNvSpPr txBox="1"/>
          <p:nvPr/>
        </p:nvSpPr>
        <p:spPr>
          <a:xfrm>
            <a:off x="790575" y="1201771"/>
            <a:ext cx="10610850" cy="4971874"/>
          </a:xfrm>
          <a:prstGeom prst="rect">
            <a:avLst/>
          </a:prstGeom>
        </p:spPr>
        <p:txBody>
          <a:bodyPr vert="horz" wrap="square" lIns="0" tIns="15875" rIns="0" bIns="0" rtlCol="0">
            <a:spAutoFit/>
          </a:bodyPr>
          <a:lstStyle/>
          <a:p>
            <a:pPr>
              <a:lnSpc>
                <a:spcPct val="150000"/>
              </a:lnSpc>
            </a:pPr>
            <a:r>
              <a:rPr lang="en-US" dirty="0"/>
              <a:t>• Implemented K-Means Clustering for customer segmentation.</a:t>
            </a:r>
            <a:br>
              <a:rPr lang="en-US" dirty="0"/>
            </a:br>
            <a:r>
              <a:rPr lang="en-US" dirty="0"/>
              <a:t>• Random forest Classification to predict customer categories.</a:t>
            </a:r>
          </a:p>
          <a:p>
            <a:pPr>
              <a:lnSpc>
                <a:spcPct val="150000"/>
              </a:lnSpc>
            </a:pPr>
            <a:r>
              <a:rPr lang="en-US" b="1" dirty="0"/>
              <a:t>K-Means Clustering:</a:t>
            </a:r>
            <a:br>
              <a:rPr lang="en-US" dirty="0"/>
            </a:br>
            <a:r>
              <a:rPr lang="en-US" dirty="0"/>
              <a:t>• Optimal Number of Clusters: 3 (Loyal Customers, Recent Customers, At-Risk Customers).</a:t>
            </a:r>
            <a:br>
              <a:rPr lang="en-US" dirty="0"/>
            </a:br>
            <a:r>
              <a:rPr lang="en-US" dirty="0"/>
              <a:t>• Metric Used: Davies-Bouldin Index = 0.76.</a:t>
            </a:r>
          </a:p>
          <a:p>
            <a:pPr>
              <a:lnSpc>
                <a:spcPct val="150000"/>
              </a:lnSpc>
            </a:pPr>
            <a:r>
              <a:rPr lang="en-US" b="1" dirty="0"/>
              <a:t>Random Forest:</a:t>
            </a:r>
            <a:br>
              <a:rPr lang="en-US" dirty="0"/>
            </a:br>
            <a:r>
              <a:rPr lang="en-US" dirty="0"/>
              <a:t>• Accuracy: 1.00%.</a:t>
            </a:r>
          </a:p>
          <a:p>
            <a:pPr>
              <a:lnSpc>
                <a:spcPct val="150000"/>
              </a:lnSpc>
            </a:pPr>
            <a:r>
              <a:rPr lang="en-US" b="1" dirty="0"/>
              <a:t>Business Impact:</a:t>
            </a:r>
            <a:br>
              <a:rPr lang="en-US" dirty="0"/>
            </a:br>
            <a:r>
              <a:rPr lang="en-US" dirty="0"/>
              <a:t>• High-Value Customers: Offer loyalty incentives.</a:t>
            </a:r>
            <a:br>
              <a:rPr lang="en-US" dirty="0"/>
            </a:br>
            <a:r>
              <a:rPr lang="en-US" dirty="0"/>
              <a:t>• Mid-Range Customers: Nurture into premium segments.</a:t>
            </a:r>
            <a:br>
              <a:rPr lang="en-US" dirty="0"/>
            </a:br>
            <a:r>
              <a:rPr lang="en-US" dirty="0"/>
              <a:t>• Low-Engagement Customers: Launch reactivation campaigns.</a:t>
            </a:r>
          </a:p>
          <a:p>
            <a:pPr marL="12700">
              <a:lnSpc>
                <a:spcPct val="150000"/>
              </a:lnSpc>
              <a:spcBef>
                <a:spcPts val="125"/>
              </a:spcBef>
            </a:pPr>
            <a:endParaRPr dirty="0">
              <a:latin typeface="Calibri"/>
              <a:cs typeface="Calibri"/>
            </a:endParaRPr>
          </a:p>
        </p:txBody>
      </p:sp>
    </p:spTree>
    <p:extLst>
      <p:ext uri="{BB962C8B-B14F-4D97-AF65-F5344CB8AC3E}">
        <p14:creationId xmlns:p14="http://schemas.microsoft.com/office/powerpoint/2010/main" val="4247806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AB08-11B3-544F-7166-DDC14D27DA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24DAC1-EEE0-6A15-42E1-A23CA4713EFC}"/>
              </a:ext>
            </a:extLst>
          </p:cNvPr>
          <p:cNvSpPr txBox="1">
            <a:spLocks noGrp="1"/>
          </p:cNvSpPr>
          <p:nvPr>
            <p:ph type="ctrTitle"/>
          </p:nvPr>
        </p:nvSpPr>
        <p:spPr>
          <a:xfrm>
            <a:off x="666750" y="588644"/>
            <a:ext cx="4972050" cy="532197"/>
          </a:xfrm>
          <a:prstGeom prst="rect">
            <a:avLst/>
          </a:prstGeom>
        </p:spPr>
        <p:txBody>
          <a:bodyPr vert="horz" wrap="square" lIns="0" tIns="16510" rIns="0" bIns="0" rtlCol="0">
            <a:spAutoFit/>
          </a:bodyPr>
          <a:lstStyle/>
          <a:p>
            <a:pPr marL="12700">
              <a:lnSpc>
                <a:spcPct val="100000"/>
              </a:lnSpc>
              <a:spcBef>
                <a:spcPts val="130"/>
              </a:spcBef>
            </a:pPr>
            <a:r>
              <a:rPr lang="en-IN" dirty="0"/>
              <a:t>Recommendations</a:t>
            </a:r>
            <a:endParaRPr spc="-10" dirty="0"/>
          </a:p>
        </p:txBody>
      </p:sp>
      <p:sp>
        <p:nvSpPr>
          <p:cNvPr id="4" name="object 4">
            <a:extLst>
              <a:ext uri="{FF2B5EF4-FFF2-40B4-BE49-F238E27FC236}">
                <a16:creationId xmlns:a16="http://schemas.microsoft.com/office/drawing/2014/main" id="{866CC3DA-38B5-68F3-9A2F-3303D437BF20}"/>
              </a:ext>
            </a:extLst>
          </p:cNvPr>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
        <p:nvSpPr>
          <p:cNvPr id="3" name="object 3">
            <a:extLst>
              <a:ext uri="{FF2B5EF4-FFF2-40B4-BE49-F238E27FC236}">
                <a16:creationId xmlns:a16="http://schemas.microsoft.com/office/drawing/2014/main" id="{CAB9E2C0-AD29-DD65-88A2-F6D5F19737AF}"/>
              </a:ext>
            </a:extLst>
          </p:cNvPr>
          <p:cNvSpPr txBox="1"/>
          <p:nvPr/>
        </p:nvSpPr>
        <p:spPr>
          <a:xfrm>
            <a:off x="914400" y="1295400"/>
            <a:ext cx="10153650" cy="4140877"/>
          </a:xfrm>
          <a:prstGeom prst="rect">
            <a:avLst/>
          </a:prstGeom>
        </p:spPr>
        <p:txBody>
          <a:bodyPr vert="horz" wrap="square" lIns="0" tIns="15875" rIns="0" bIns="0" rtlCol="0">
            <a:spAutoFit/>
          </a:bodyPr>
          <a:lstStyle/>
          <a:p>
            <a:pPr>
              <a:lnSpc>
                <a:spcPct val="150000"/>
              </a:lnSpc>
            </a:pPr>
            <a:r>
              <a:rPr lang="en-US" dirty="0"/>
              <a:t>Beside the campaign, company should doing analysis for the customers’ habit, this can be improving ads, product recommendation and promotion for customers.</a:t>
            </a:r>
          </a:p>
          <a:p>
            <a:pPr>
              <a:lnSpc>
                <a:spcPct val="150000"/>
              </a:lnSpc>
            </a:pPr>
            <a:r>
              <a:rPr lang="en-US" dirty="0"/>
              <a:t>To bring back the customers who have left, company needs to consider to start the campaign by giving them promo as promo campaign with certain payment method or specific payment gateway/provider. This campaign can be focused on </a:t>
            </a:r>
            <a:r>
              <a:rPr lang="en-US" b="1" dirty="0"/>
              <a:t>“Dolphin let you miss you”</a:t>
            </a:r>
            <a:r>
              <a:rPr lang="en-US" dirty="0"/>
              <a:t> and </a:t>
            </a:r>
            <a:r>
              <a:rPr lang="en-US" b="1" dirty="0"/>
              <a:t>“It’s been a While”</a:t>
            </a:r>
            <a:r>
              <a:rPr lang="en-US" dirty="0"/>
              <a:t> customers.</a:t>
            </a:r>
          </a:p>
          <a:p>
            <a:pPr>
              <a:lnSpc>
                <a:spcPct val="150000"/>
              </a:lnSpc>
            </a:pPr>
            <a:r>
              <a:rPr lang="en-US" dirty="0"/>
              <a:t>For </a:t>
            </a:r>
            <a:r>
              <a:rPr lang="en-US" b="1" dirty="0"/>
              <a:t>“Let Minnow”</a:t>
            </a:r>
            <a:r>
              <a:rPr lang="en-US" dirty="0"/>
              <a:t> customers, campaign to boost the spending amount and to keep them stay with the platform is strongly recommended. Such as cashback promo or rewarding referral can be the option for the campaign.</a:t>
            </a:r>
          </a:p>
          <a:p>
            <a:pPr marL="12700">
              <a:lnSpc>
                <a:spcPct val="150000"/>
              </a:lnSpc>
              <a:spcBef>
                <a:spcPts val="125"/>
              </a:spcBef>
            </a:pPr>
            <a:endParaRPr dirty="0">
              <a:latin typeface="Calibri"/>
              <a:cs typeface="Calibri"/>
            </a:endParaRPr>
          </a:p>
        </p:txBody>
      </p:sp>
    </p:spTree>
    <p:extLst>
      <p:ext uri="{BB962C8B-B14F-4D97-AF65-F5344CB8AC3E}">
        <p14:creationId xmlns:p14="http://schemas.microsoft.com/office/powerpoint/2010/main" val="2899922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6750" y="3594671"/>
            <a:ext cx="3735070" cy="941069"/>
          </a:xfrm>
          <a:prstGeom prst="rect">
            <a:avLst/>
          </a:prstGeom>
        </p:spPr>
        <p:txBody>
          <a:bodyPr vert="horz" wrap="square" lIns="0" tIns="13335" rIns="0" bIns="0" rtlCol="0">
            <a:spAutoFit/>
          </a:bodyPr>
          <a:lstStyle/>
          <a:p>
            <a:pPr marL="12700">
              <a:lnSpc>
                <a:spcPct val="100000"/>
              </a:lnSpc>
              <a:spcBef>
                <a:spcPts val="105"/>
              </a:spcBef>
            </a:pPr>
            <a:r>
              <a:rPr sz="6000" dirty="0"/>
              <a:t>Questions</a:t>
            </a:r>
            <a:r>
              <a:rPr sz="6000" spc="-114" dirty="0"/>
              <a:t> </a:t>
            </a:r>
            <a:r>
              <a:rPr sz="6000" spc="-50" dirty="0"/>
              <a:t>?</a:t>
            </a:r>
            <a:endParaRPr sz="6000"/>
          </a:p>
        </p:txBody>
      </p:sp>
      <p:sp>
        <p:nvSpPr>
          <p:cNvPr id="3" name="object 3"/>
          <p:cNvSpPr txBox="1">
            <a:spLocks noGrp="1"/>
          </p:cNvSpPr>
          <p:nvPr>
            <p:ph type="ftr" sz="quarter" idx="5"/>
          </p:nvPr>
        </p:nvSpPr>
        <p:spPr>
          <a:prstGeom prst="rect">
            <a:avLst/>
          </a:prstGeom>
        </p:spPr>
        <p:txBody>
          <a:bodyPr vert="horz" wrap="square" lIns="0" tIns="19050" rIns="0" bIns="0" rtlCol="0">
            <a:spAutoFit/>
          </a:bodyPr>
          <a:lstStyle/>
          <a:p>
            <a:pPr marL="12700" marR="5080">
              <a:lnSpc>
                <a:spcPts val="1280"/>
              </a:lnSpc>
              <a:spcBef>
                <a:spcPts val="150"/>
              </a:spcBef>
            </a:pPr>
            <a:r>
              <a:rPr b="1" spc="-10" dirty="0">
                <a:latin typeface="Calibri"/>
                <a:cs typeface="Calibri"/>
              </a:rPr>
              <a:t>CONFIDENTIAL</a:t>
            </a:r>
            <a:r>
              <a:rPr spc="-10" dirty="0"/>
              <a:t>: </a:t>
            </a:r>
            <a:r>
              <a:rPr dirty="0"/>
              <a:t>The</a:t>
            </a:r>
            <a:r>
              <a:rPr spc="30" dirty="0"/>
              <a:t> </a:t>
            </a:r>
            <a:r>
              <a:rPr dirty="0"/>
              <a:t>information</a:t>
            </a:r>
            <a:r>
              <a:rPr spc="-5" dirty="0"/>
              <a:t> </a:t>
            </a:r>
            <a:r>
              <a:rPr dirty="0"/>
              <a:t>in this</a:t>
            </a:r>
            <a:r>
              <a:rPr spc="-5" dirty="0"/>
              <a:t> </a:t>
            </a:r>
            <a:r>
              <a:rPr dirty="0"/>
              <a:t>document</a:t>
            </a:r>
            <a:r>
              <a:rPr spc="-10" dirty="0"/>
              <a:t> belongs</a:t>
            </a:r>
            <a:r>
              <a:rPr spc="-5" dirty="0"/>
              <a:t> </a:t>
            </a:r>
            <a:r>
              <a:rPr dirty="0"/>
              <a:t>to</a:t>
            </a:r>
            <a:r>
              <a:rPr spc="-10" dirty="0"/>
              <a:t> </a:t>
            </a:r>
            <a:r>
              <a:rPr dirty="0"/>
              <a:t>Boston Institute</a:t>
            </a:r>
            <a:r>
              <a:rPr spc="-50" dirty="0"/>
              <a:t> </a:t>
            </a:r>
            <a:r>
              <a:rPr dirty="0"/>
              <a:t>of</a:t>
            </a:r>
            <a:r>
              <a:rPr spc="25" dirty="0"/>
              <a:t> </a:t>
            </a:r>
            <a:r>
              <a:rPr spc="-10" dirty="0"/>
              <a:t>Analytics</a:t>
            </a:r>
            <a:r>
              <a:rPr spc="-5" dirty="0"/>
              <a:t> </a:t>
            </a:r>
            <a:r>
              <a:rPr dirty="0"/>
              <a:t>LLC.</a:t>
            </a:r>
            <a:r>
              <a:rPr spc="10" dirty="0"/>
              <a:t> </a:t>
            </a:r>
            <a:r>
              <a:rPr dirty="0"/>
              <a:t>Any </a:t>
            </a:r>
            <a:r>
              <a:rPr spc="-10" dirty="0"/>
              <a:t>unauthorized</a:t>
            </a:r>
            <a:r>
              <a:rPr dirty="0"/>
              <a:t> sharing</a:t>
            </a:r>
            <a:r>
              <a:rPr spc="-15" dirty="0"/>
              <a:t> </a:t>
            </a:r>
            <a:r>
              <a:rPr dirty="0"/>
              <a:t>of</a:t>
            </a:r>
            <a:r>
              <a:rPr spc="25" dirty="0"/>
              <a:t> </a:t>
            </a:r>
            <a:r>
              <a:rPr spc="-20" dirty="0"/>
              <a:t>this </a:t>
            </a:r>
            <a:r>
              <a:rPr dirty="0"/>
              <a:t>material</a:t>
            </a:r>
            <a:r>
              <a:rPr spc="10" dirty="0"/>
              <a:t> </a:t>
            </a:r>
            <a:r>
              <a:rPr dirty="0"/>
              <a:t>is</a:t>
            </a:r>
            <a:r>
              <a:rPr spc="-25" dirty="0"/>
              <a:t> </a:t>
            </a:r>
            <a:r>
              <a:rPr dirty="0"/>
              <a:t>prohibited</a:t>
            </a:r>
            <a:r>
              <a:rPr spc="-25" dirty="0"/>
              <a:t> </a:t>
            </a:r>
            <a:r>
              <a:rPr dirty="0"/>
              <a:t>and</a:t>
            </a:r>
            <a:r>
              <a:rPr spc="-20" dirty="0"/>
              <a:t> </a:t>
            </a:r>
            <a:r>
              <a:rPr dirty="0"/>
              <a:t>subject</a:t>
            </a:r>
            <a:r>
              <a:rPr spc="-35" dirty="0"/>
              <a:t> </a:t>
            </a:r>
            <a:r>
              <a:rPr dirty="0"/>
              <a:t>to</a:t>
            </a:r>
            <a:r>
              <a:rPr spc="-25" dirty="0"/>
              <a:t> </a:t>
            </a:r>
            <a:r>
              <a:rPr dirty="0"/>
              <a:t>legal</a:t>
            </a:r>
            <a:r>
              <a:rPr spc="10" dirty="0"/>
              <a:t> </a:t>
            </a:r>
            <a:r>
              <a:rPr dirty="0"/>
              <a:t>action</a:t>
            </a:r>
            <a:r>
              <a:rPr spc="-25" dirty="0"/>
              <a:t> </a:t>
            </a:r>
            <a:r>
              <a:rPr dirty="0"/>
              <a:t>under</a:t>
            </a:r>
            <a:r>
              <a:rPr spc="25" dirty="0"/>
              <a:t> </a:t>
            </a:r>
            <a:r>
              <a:rPr dirty="0"/>
              <a:t>breach</a:t>
            </a:r>
            <a:r>
              <a:rPr spc="-20" dirty="0"/>
              <a:t> </a:t>
            </a:r>
            <a:r>
              <a:rPr dirty="0"/>
              <a:t>of IP</a:t>
            </a:r>
            <a:r>
              <a:rPr spc="-15" dirty="0"/>
              <a:t> </a:t>
            </a:r>
            <a:r>
              <a:rPr dirty="0"/>
              <a:t>and</a:t>
            </a:r>
            <a:r>
              <a:rPr spc="-20" dirty="0"/>
              <a:t> </a:t>
            </a:r>
            <a:r>
              <a:rPr spc="-10" dirty="0"/>
              <a:t>confidentiality</a:t>
            </a:r>
            <a:r>
              <a:rPr spc="-15" dirty="0"/>
              <a:t> </a:t>
            </a:r>
            <a:r>
              <a:rPr spc="-10" dirty="0"/>
              <a:t>clauses.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450" y="6227946"/>
            <a:ext cx="7187565" cy="337185"/>
          </a:xfrm>
          <a:prstGeom prst="rect">
            <a:avLst/>
          </a:prstGeom>
        </p:spPr>
        <p:txBody>
          <a:bodyPr vert="horz" wrap="square" lIns="0" tIns="6350" rIns="0" bIns="0" rtlCol="0">
            <a:spAutoFit/>
          </a:bodyPr>
          <a:lstStyle/>
          <a:p>
            <a:pPr>
              <a:lnSpc>
                <a:spcPts val="1280"/>
              </a:lnSpc>
              <a:spcBef>
                <a:spcPts val="50"/>
              </a:spcBef>
            </a:pPr>
            <a:r>
              <a:rPr sz="1100" b="1" spc="-10" dirty="0">
                <a:solidFill>
                  <a:srgbClr val="AEABAB"/>
                </a:solidFill>
                <a:latin typeface="Calibri"/>
                <a:cs typeface="Calibri"/>
              </a:rPr>
              <a:t>CONFIDENTIAL</a:t>
            </a:r>
            <a:r>
              <a:rPr sz="1100" spc="-10" dirty="0">
                <a:solidFill>
                  <a:srgbClr val="AEABAB"/>
                </a:solidFill>
                <a:latin typeface="Calibri"/>
                <a:cs typeface="Calibri"/>
              </a:rPr>
              <a:t>: </a:t>
            </a:r>
            <a:r>
              <a:rPr sz="1100" dirty="0">
                <a:solidFill>
                  <a:srgbClr val="AEABAB"/>
                </a:solidFill>
                <a:latin typeface="Calibri"/>
                <a:cs typeface="Calibri"/>
              </a:rPr>
              <a:t>The</a:t>
            </a:r>
            <a:r>
              <a:rPr sz="1100" spc="30" dirty="0">
                <a:solidFill>
                  <a:srgbClr val="AEABAB"/>
                </a:solidFill>
                <a:latin typeface="Calibri"/>
                <a:cs typeface="Calibri"/>
              </a:rPr>
              <a:t> </a:t>
            </a:r>
            <a:r>
              <a:rPr sz="1100" dirty="0">
                <a:solidFill>
                  <a:srgbClr val="AEABAB"/>
                </a:solidFill>
                <a:latin typeface="Calibri"/>
                <a:cs typeface="Calibri"/>
              </a:rPr>
              <a:t>information</a:t>
            </a:r>
            <a:r>
              <a:rPr sz="1100" spc="-5" dirty="0">
                <a:solidFill>
                  <a:srgbClr val="AEABAB"/>
                </a:solidFill>
                <a:latin typeface="Calibri"/>
                <a:cs typeface="Calibri"/>
              </a:rPr>
              <a:t> </a:t>
            </a:r>
            <a:r>
              <a:rPr sz="1100" dirty="0">
                <a:solidFill>
                  <a:srgbClr val="AEABAB"/>
                </a:solidFill>
                <a:latin typeface="Calibri"/>
                <a:cs typeface="Calibri"/>
              </a:rPr>
              <a:t>in this</a:t>
            </a:r>
            <a:r>
              <a:rPr sz="1100" spc="-5" dirty="0">
                <a:solidFill>
                  <a:srgbClr val="AEABAB"/>
                </a:solidFill>
                <a:latin typeface="Calibri"/>
                <a:cs typeface="Calibri"/>
              </a:rPr>
              <a:t> </a:t>
            </a:r>
            <a:r>
              <a:rPr sz="1100" dirty="0">
                <a:solidFill>
                  <a:srgbClr val="AEABAB"/>
                </a:solidFill>
                <a:latin typeface="Calibri"/>
                <a:cs typeface="Calibri"/>
              </a:rPr>
              <a:t>document</a:t>
            </a:r>
            <a:r>
              <a:rPr sz="1100" spc="-10" dirty="0">
                <a:solidFill>
                  <a:srgbClr val="AEABAB"/>
                </a:solidFill>
                <a:latin typeface="Calibri"/>
                <a:cs typeface="Calibri"/>
              </a:rPr>
              <a:t> belongs</a:t>
            </a:r>
            <a:r>
              <a:rPr sz="1100" spc="-5" dirty="0">
                <a:solidFill>
                  <a:srgbClr val="AEABAB"/>
                </a:solidFill>
                <a:latin typeface="Calibri"/>
                <a:cs typeface="Calibri"/>
              </a:rPr>
              <a:t> </a:t>
            </a:r>
            <a:r>
              <a:rPr sz="1100" dirty="0">
                <a:solidFill>
                  <a:srgbClr val="AEABAB"/>
                </a:solidFill>
                <a:latin typeface="Calibri"/>
                <a:cs typeface="Calibri"/>
              </a:rPr>
              <a:t>to</a:t>
            </a:r>
            <a:r>
              <a:rPr sz="1100" spc="-10" dirty="0">
                <a:solidFill>
                  <a:srgbClr val="AEABAB"/>
                </a:solidFill>
                <a:latin typeface="Calibri"/>
                <a:cs typeface="Calibri"/>
              </a:rPr>
              <a:t> </a:t>
            </a:r>
            <a:r>
              <a:rPr sz="1100" dirty="0">
                <a:solidFill>
                  <a:srgbClr val="AEABAB"/>
                </a:solidFill>
                <a:latin typeface="Calibri"/>
                <a:cs typeface="Calibri"/>
              </a:rPr>
              <a:t>Boston Institute</a:t>
            </a:r>
            <a:r>
              <a:rPr sz="1100" spc="-50"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10" dirty="0">
                <a:solidFill>
                  <a:srgbClr val="AEABAB"/>
                </a:solidFill>
                <a:latin typeface="Calibri"/>
                <a:cs typeface="Calibri"/>
              </a:rPr>
              <a:t>Analytics</a:t>
            </a:r>
            <a:r>
              <a:rPr sz="1100" spc="-5" dirty="0">
                <a:solidFill>
                  <a:srgbClr val="AEABAB"/>
                </a:solidFill>
                <a:latin typeface="Calibri"/>
                <a:cs typeface="Calibri"/>
              </a:rPr>
              <a:t> </a:t>
            </a:r>
            <a:r>
              <a:rPr sz="1100" dirty="0">
                <a:solidFill>
                  <a:srgbClr val="AEABAB"/>
                </a:solidFill>
                <a:latin typeface="Calibri"/>
                <a:cs typeface="Calibri"/>
              </a:rPr>
              <a:t>LLC.</a:t>
            </a:r>
            <a:r>
              <a:rPr sz="1100" spc="10" dirty="0">
                <a:solidFill>
                  <a:srgbClr val="AEABAB"/>
                </a:solidFill>
                <a:latin typeface="Calibri"/>
                <a:cs typeface="Calibri"/>
              </a:rPr>
              <a:t> </a:t>
            </a:r>
            <a:r>
              <a:rPr sz="1100" dirty="0">
                <a:solidFill>
                  <a:srgbClr val="AEABAB"/>
                </a:solidFill>
                <a:latin typeface="Calibri"/>
                <a:cs typeface="Calibri"/>
              </a:rPr>
              <a:t>Any </a:t>
            </a:r>
            <a:r>
              <a:rPr sz="1100" spc="-10" dirty="0">
                <a:solidFill>
                  <a:srgbClr val="AEABAB"/>
                </a:solidFill>
                <a:latin typeface="Calibri"/>
                <a:cs typeface="Calibri"/>
              </a:rPr>
              <a:t>unauthorized</a:t>
            </a:r>
            <a:r>
              <a:rPr sz="1100" dirty="0">
                <a:solidFill>
                  <a:srgbClr val="AEABAB"/>
                </a:solidFill>
                <a:latin typeface="Calibri"/>
                <a:cs typeface="Calibri"/>
              </a:rPr>
              <a:t> sharing</a:t>
            </a:r>
            <a:r>
              <a:rPr sz="1100" spc="-15" dirty="0">
                <a:solidFill>
                  <a:srgbClr val="AEABAB"/>
                </a:solidFill>
                <a:latin typeface="Calibri"/>
                <a:cs typeface="Calibri"/>
              </a:rPr>
              <a:t> </a:t>
            </a:r>
            <a:r>
              <a:rPr sz="1100" dirty="0">
                <a:solidFill>
                  <a:srgbClr val="AEABAB"/>
                </a:solidFill>
                <a:latin typeface="Calibri"/>
                <a:cs typeface="Calibri"/>
              </a:rPr>
              <a:t>of</a:t>
            </a:r>
            <a:r>
              <a:rPr sz="1100" spc="25" dirty="0">
                <a:solidFill>
                  <a:srgbClr val="AEABAB"/>
                </a:solidFill>
                <a:latin typeface="Calibri"/>
                <a:cs typeface="Calibri"/>
              </a:rPr>
              <a:t> </a:t>
            </a:r>
            <a:r>
              <a:rPr sz="1100" spc="-20" dirty="0">
                <a:solidFill>
                  <a:srgbClr val="AEABAB"/>
                </a:solidFill>
                <a:latin typeface="Calibri"/>
                <a:cs typeface="Calibri"/>
              </a:rPr>
              <a:t>this </a:t>
            </a:r>
            <a:r>
              <a:rPr sz="1100" dirty="0">
                <a:solidFill>
                  <a:srgbClr val="AEABAB"/>
                </a:solidFill>
                <a:latin typeface="Calibri"/>
                <a:cs typeface="Calibri"/>
              </a:rPr>
              <a:t>material</a:t>
            </a:r>
            <a:r>
              <a:rPr sz="1100" spc="10" dirty="0">
                <a:solidFill>
                  <a:srgbClr val="AEABAB"/>
                </a:solidFill>
                <a:latin typeface="Calibri"/>
                <a:cs typeface="Calibri"/>
              </a:rPr>
              <a:t> </a:t>
            </a:r>
            <a:r>
              <a:rPr sz="1100" dirty="0">
                <a:solidFill>
                  <a:srgbClr val="AEABAB"/>
                </a:solidFill>
                <a:latin typeface="Calibri"/>
                <a:cs typeface="Calibri"/>
              </a:rPr>
              <a:t>is</a:t>
            </a:r>
            <a:r>
              <a:rPr sz="1100" spc="-25" dirty="0">
                <a:solidFill>
                  <a:srgbClr val="AEABAB"/>
                </a:solidFill>
                <a:latin typeface="Calibri"/>
                <a:cs typeface="Calibri"/>
              </a:rPr>
              <a:t> </a:t>
            </a:r>
            <a:r>
              <a:rPr sz="1100" dirty="0">
                <a:solidFill>
                  <a:srgbClr val="AEABAB"/>
                </a:solidFill>
                <a:latin typeface="Calibri"/>
                <a:cs typeface="Calibri"/>
              </a:rPr>
              <a:t>prohibited</a:t>
            </a:r>
            <a:r>
              <a:rPr sz="1100" spc="-2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dirty="0">
                <a:solidFill>
                  <a:srgbClr val="AEABAB"/>
                </a:solidFill>
                <a:latin typeface="Calibri"/>
                <a:cs typeface="Calibri"/>
              </a:rPr>
              <a:t>subject</a:t>
            </a:r>
            <a:r>
              <a:rPr sz="1100" spc="-35" dirty="0">
                <a:solidFill>
                  <a:srgbClr val="AEABAB"/>
                </a:solidFill>
                <a:latin typeface="Calibri"/>
                <a:cs typeface="Calibri"/>
              </a:rPr>
              <a:t> </a:t>
            </a:r>
            <a:r>
              <a:rPr sz="1100" dirty="0">
                <a:solidFill>
                  <a:srgbClr val="AEABAB"/>
                </a:solidFill>
                <a:latin typeface="Calibri"/>
                <a:cs typeface="Calibri"/>
              </a:rPr>
              <a:t>to</a:t>
            </a:r>
            <a:r>
              <a:rPr sz="1100" spc="-25" dirty="0">
                <a:solidFill>
                  <a:srgbClr val="AEABAB"/>
                </a:solidFill>
                <a:latin typeface="Calibri"/>
                <a:cs typeface="Calibri"/>
              </a:rPr>
              <a:t> </a:t>
            </a:r>
            <a:r>
              <a:rPr sz="1100" dirty="0">
                <a:solidFill>
                  <a:srgbClr val="AEABAB"/>
                </a:solidFill>
                <a:latin typeface="Calibri"/>
                <a:cs typeface="Calibri"/>
              </a:rPr>
              <a:t>legal</a:t>
            </a:r>
            <a:r>
              <a:rPr sz="1100" spc="10" dirty="0">
                <a:solidFill>
                  <a:srgbClr val="AEABAB"/>
                </a:solidFill>
                <a:latin typeface="Calibri"/>
                <a:cs typeface="Calibri"/>
              </a:rPr>
              <a:t> </a:t>
            </a:r>
            <a:r>
              <a:rPr sz="1100" dirty="0">
                <a:solidFill>
                  <a:srgbClr val="AEABAB"/>
                </a:solidFill>
                <a:latin typeface="Calibri"/>
                <a:cs typeface="Calibri"/>
              </a:rPr>
              <a:t>action</a:t>
            </a:r>
            <a:r>
              <a:rPr sz="1100" spc="-25" dirty="0">
                <a:solidFill>
                  <a:srgbClr val="AEABAB"/>
                </a:solidFill>
                <a:latin typeface="Calibri"/>
                <a:cs typeface="Calibri"/>
              </a:rPr>
              <a:t> </a:t>
            </a:r>
            <a:r>
              <a:rPr sz="1100" dirty="0">
                <a:solidFill>
                  <a:srgbClr val="AEABAB"/>
                </a:solidFill>
                <a:latin typeface="Calibri"/>
                <a:cs typeface="Calibri"/>
              </a:rPr>
              <a:t>under</a:t>
            </a:r>
            <a:r>
              <a:rPr sz="1100" spc="25" dirty="0">
                <a:solidFill>
                  <a:srgbClr val="AEABAB"/>
                </a:solidFill>
                <a:latin typeface="Calibri"/>
                <a:cs typeface="Calibri"/>
              </a:rPr>
              <a:t> </a:t>
            </a:r>
            <a:r>
              <a:rPr sz="1100" dirty="0">
                <a:solidFill>
                  <a:srgbClr val="AEABAB"/>
                </a:solidFill>
                <a:latin typeface="Calibri"/>
                <a:cs typeface="Calibri"/>
              </a:rPr>
              <a:t>breach</a:t>
            </a:r>
            <a:r>
              <a:rPr sz="1100" spc="-20" dirty="0">
                <a:solidFill>
                  <a:srgbClr val="AEABAB"/>
                </a:solidFill>
                <a:latin typeface="Calibri"/>
                <a:cs typeface="Calibri"/>
              </a:rPr>
              <a:t> </a:t>
            </a:r>
            <a:r>
              <a:rPr sz="1100" dirty="0">
                <a:solidFill>
                  <a:srgbClr val="AEABAB"/>
                </a:solidFill>
                <a:latin typeface="Calibri"/>
                <a:cs typeface="Calibri"/>
              </a:rPr>
              <a:t>of IP</a:t>
            </a:r>
            <a:r>
              <a:rPr sz="1100" spc="-15" dirty="0">
                <a:solidFill>
                  <a:srgbClr val="AEABAB"/>
                </a:solidFill>
                <a:latin typeface="Calibri"/>
                <a:cs typeface="Calibri"/>
              </a:rPr>
              <a:t> </a:t>
            </a:r>
            <a:r>
              <a:rPr sz="1100" dirty="0">
                <a:solidFill>
                  <a:srgbClr val="AEABAB"/>
                </a:solidFill>
                <a:latin typeface="Calibri"/>
                <a:cs typeface="Calibri"/>
              </a:rPr>
              <a:t>and</a:t>
            </a:r>
            <a:r>
              <a:rPr sz="1100" spc="-20" dirty="0">
                <a:solidFill>
                  <a:srgbClr val="AEABAB"/>
                </a:solidFill>
                <a:latin typeface="Calibri"/>
                <a:cs typeface="Calibri"/>
              </a:rPr>
              <a:t> </a:t>
            </a:r>
            <a:r>
              <a:rPr sz="1100" spc="-10" dirty="0">
                <a:solidFill>
                  <a:srgbClr val="AEABAB"/>
                </a:solidFill>
                <a:latin typeface="Calibri"/>
                <a:cs typeface="Calibri"/>
              </a:rPr>
              <a:t>confidentiality</a:t>
            </a:r>
            <a:r>
              <a:rPr sz="1100" spc="-15" dirty="0">
                <a:solidFill>
                  <a:srgbClr val="AEABAB"/>
                </a:solidFill>
                <a:latin typeface="Calibri"/>
                <a:cs typeface="Calibri"/>
              </a:rPr>
              <a:t> </a:t>
            </a:r>
            <a:r>
              <a:rPr sz="1100" spc="-10" dirty="0">
                <a:solidFill>
                  <a:srgbClr val="AEABAB"/>
                </a:solidFill>
                <a:latin typeface="Calibri"/>
                <a:cs typeface="Calibri"/>
              </a:rPr>
              <a:t>clauses.</a:t>
            </a:r>
            <a:endParaRPr sz="1100">
              <a:latin typeface="Calibri"/>
              <a:cs typeface="Calibri"/>
            </a:endParaRPr>
          </a:p>
        </p:txBody>
      </p:sp>
      <p:pic>
        <p:nvPicPr>
          <p:cNvPr id="3" name="object 3"/>
          <p:cNvPicPr/>
          <p:nvPr/>
        </p:nvPicPr>
        <p:blipFill>
          <a:blip r:embed="rId2" cstate="print"/>
          <a:stretch>
            <a:fillRect/>
          </a:stretch>
        </p:blipFill>
        <p:spPr>
          <a:xfrm>
            <a:off x="0" y="0"/>
            <a:ext cx="12192000" cy="6857997"/>
          </a:xfrm>
          <a:prstGeom prst="rect">
            <a:avLst/>
          </a:prstGeom>
        </p:spPr>
      </p:pic>
      <p:sp>
        <p:nvSpPr>
          <p:cNvPr id="4" name="object 4"/>
          <p:cNvSpPr txBox="1">
            <a:spLocks noGrp="1"/>
          </p:cNvSpPr>
          <p:nvPr>
            <p:ph type="title"/>
          </p:nvPr>
        </p:nvSpPr>
        <p:spPr>
          <a:xfrm>
            <a:off x="4157345" y="2405443"/>
            <a:ext cx="3881120" cy="1032510"/>
          </a:xfrm>
          <a:prstGeom prst="rect">
            <a:avLst/>
          </a:prstGeom>
        </p:spPr>
        <p:txBody>
          <a:bodyPr vert="horz" wrap="square" lIns="0" tIns="13335" rIns="0" bIns="0" rtlCol="0">
            <a:spAutoFit/>
          </a:bodyPr>
          <a:lstStyle/>
          <a:p>
            <a:pPr marL="12700">
              <a:lnSpc>
                <a:spcPct val="100000"/>
              </a:lnSpc>
              <a:spcBef>
                <a:spcPts val="105"/>
              </a:spcBef>
            </a:pPr>
            <a:r>
              <a:rPr sz="6600" dirty="0">
                <a:solidFill>
                  <a:srgbClr val="FFFFFF"/>
                </a:solidFill>
              </a:rPr>
              <a:t>Thank</a:t>
            </a:r>
            <a:r>
              <a:rPr sz="6600" spc="-110" dirty="0">
                <a:solidFill>
                  <a:srgbClr val="FFFFFF"/>
                </a:solidFill>
              </a:rPr>
              <a:t> </a:t>
            </a:r>
            <a:r>
              <a:rPr sz="6600" spc="-470" dirty="0">
                <a:solidFill>
                  <a:srgbClr val="FFFFFF"/>
                </a:solidFill>
              </a:rPr>
              <a:t>Y</a:t>
            </a:r>
            <a:r>
              <a:rPr sz="6600" spc="15" dirty="0">
                <a:solidFill>
                  <a:srgbClr val="FFFFFF"/>
                </a:solidFill>
              </a:rPr>
              <a:t>o</a:t>
            </a:r>
            <a:r>
              <a:rPr sz="6600" spc="20" dirty="0">
                <a:solidFill>
                  <a:srgbClr val="FFFFFF"/>
                </a:solidFill>
              </a:rPr>
              <a:t>u</a:t>
            </a:r>
            <a:r>
              <a:rPr sz="6600" spc="40" dirty="0">
                <a:solidFill>
                  <a:srgbClr val="FFFFFF"/>
                </a:solidFill>
              </a:rPr>
              <a:t>!</a:t>
            </a:r>
            <a:endParaRPr sz="6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TotalTime>
  <Words>1732</Words>
  <Application>Microsoft Office PowerPoint</Application>
  <PresentationFormat>Widescreen</PresentationFormat>
  <Paragraphs>118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Arial MT</vt:lpstr>
      <vt:lpstr>Calibri</vt:lpstr>
      <vt:lpstr>Office Theme</vt:lpstr>
      <vt:lpstr>Ecommerce Customer Segmentation and                             Prediction</vt:lpstr>
      <vt:lpstr>Agenda</vt:lpstr>
      <vt:lpstr>Project Overview</vt:lpstr>
      <vt:lpstr>Project Benefits</vt:lpstr>
      <vt:lpstr>Data frame Observations</vt:lpstr>
      <vt:lpstr>What is RFM Analysis?</vt:lpstr>
      <vt:lpstr>Insights</vt:lpstr>
      <vt:lpstr>Data Preparation</vt:lpstr>
      <vt:lpstr>Handling Outliers</vt:lpstr>
      <vt:lpstr>Handling Outliers</vt:lpstr>
      <vt:lpstr> Scaling</vt:lpstr>
      <vt:lpstr>Elbow curve for K-Means</vt:lpstr>
      <vt:lpstr>Silhouette Score</vt:lpstr>
      <vt:lpstr>Customer Segmentation</vt:lpstr>
      <vt:lpstr>Insights for cluster to improve the Business</vt:lpstr>
      <vt:lpstr>Performance Summary:</vt:lpstr>
      <vt:lpstr>Conclusion</vt:lpstr>
      <vt:lpstr>Conclusion</vt:lpstr>
      <vt:lpstr>Recommendations</vt:lpstr>
      <vt:lpstr>Questions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Abhishek</dc:creator>
  <cp:lastModifiedBy>Abhishek Tiwari</cp:lastModifiedBy>
  <cp:revision>1</cp:revision>
  <dcterms:created xsi:type="dcterms:W3CDTF">2026-03-08T08:45:11Z</dcterms:created>
  <dcterms:modified xsi:type="dcterms:W3CDTF">2026-03-08T11:39:52Z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2026-03-08T00:00:00Z</vt:filetime>
  </property>
  <property fmtid="{D5CDD505-2E9C-101B-9397-08002B2CF9AE}" pid="3" name="LastSaved">
    <vt:filetime>2026-03-08T00:00:00Z</vt:filetime>
  </property>
</Properties>
</file>